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943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预训练模型演进史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9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ELMo 到 ChatGPT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286000" y="2176272"/>
            <a:ext cx="457200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2257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那些改变 NLP 格局的模型、曾经的热门思路，以及它们最终的命运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035808"/>
            <a:ext cx="768096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2971800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1455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34015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947672" y="2971800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1691640" y="31455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08760" y="34015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Seq2Seq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27832" y="2971800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2971800" y="31455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88920" y="34015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07992" y="2971800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0" name="Text 18"/>
          <p:cNvSpPr/>
          <p:nvPr/>
        </p:nvSpPr>
        <p:spPr>
          <a:xfrm>
            <a:off x="4251960" y="31455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69080" y="34015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BERT/GPT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788152" y="2971800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3" name="Text 21"/>
          <p:cNvSpPr/>
          <p:nvPr/>
        </p:nvSpPr>
        <p:spPr>
          <a:xfrm>
            <a:off x="5532120" y="31455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49240" y="34015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BERT变体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068312" y="2971800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31455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29400" y="34015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348472" y="2971800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9" name="Text 27"/>
          <p:cNvSpPr/>
          <p:nvPr/>
        </p:nvSpPr>
        <p:spPr>
          <a:xfrm>
            <a:off x="8092440" y="31455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09560" y="34015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8640" y="39776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个里程碑  ·  29+ 页  ·  哪些思想活下来，哪些被历史淘汰</a:t>
            </a:r>
            <a:endParaRPr lang="en-US" sz="1100" dirty="0"/>
          </a:p>
        </p:txBody>
      </p:sp>
      <p:sp>
        <p:nvSpPr>
          <p:cNvPr id="32" name="TextBox 3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词向量时代的局限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· GloVe · 静态表征 · 2013–2017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 词向量时代的局限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/ GloVe：静态词向量时代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023360" cy="859536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Word2Vec（2013，Google）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预测上下文词，训练稠密词向量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两种模式：CBOW 和 Skip-gram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4023360" cy="859536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04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GloVe（2014，Stanford）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全局共现矩阵分解，兼顾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局部上下文与全局统计信息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163824"/>
            <a:ext cx="4023360" cy="859536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36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共同成就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5112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稠密低维向量大幅优于 one-hot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词语类比推理：king - man + woman = queen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987552"/>
            <a:ext cx="0" cy="3035808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9875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核心问题：静态向量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29844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"bank" 这个词，不管什么语境，向量完全相同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682496"/>
            <a:ext cx="397764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1755648"/>
            <a:ext cx="375818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sent1 = "went to the bank"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银行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sent2 = "sat on the river bank"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河岸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两句中 bank 向量完全一样!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3218688"/>
            <a:ext cx="3977640" cy="804672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2918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一词一向量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：无视上下文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预训练仅限词向量，深层表征靠任务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数据从头学——数据少则效果差</a:t>
            </a:r>
            <a:endParaRPr lang="en-US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 词向量时代的局限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为什么需要动态 / 上下文敏感的表征？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697480" cy="1481328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多义词歧义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3898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"bank" "spring" "fly"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不同语境含义完全不同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静态向量无法区分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97480" cy="1481328"/>
          </a:xfrm>
          <a:prstGeom prst="rect">
            <a:avLst/>
          </a:prstGeom>
          <a:solidFill>
            <a:srgbClr val="FFF8EC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0128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句法语义理解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10128" y="13898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ate the cake" vs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cake was eaten"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词序影响语义，词袋无法捕捉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697480" cy="148132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任务特异性强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44768" y="13898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每任务需从头大量训练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数据少时容易过拟合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泛化能力受限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6334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当时的解法（2015–2017）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962656"/>
            <a:ext cx="8412480" cy="530352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540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Seq2Seq + Attention（2015）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3054096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注意力机制聚焦关键词，翻译/摘要效果大幅提升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84448"/>
            <a:ext cx="8412480" cy="530352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758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双向 LSTM（biLSTM）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3675888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正向+反向拼接，捕捉左右上下文；但串行慢，每任务独立训练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8412480" cy="530352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2976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核心局限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46120" y="4297680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深层表征仍依赖任务数据——数据少=效果差；亟需通用上下文预训练</a:t>
            </a:r>
            <a:endParaRPr lang="en-US" sz="1100" dirty="0"/>
          </a:p>
        </p:txBody>
      </p:sp>
      <p:sp>
        <p:nvSpPr>
          <p:cNvPr id="24" name="TextBox 2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ELMo——动态表征的破冰者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Peters et al. · AllenNLP · 2018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 ELMo——动态表征的破冰者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ELMo：从静态到动态的关键一步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424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核心设计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4023360" cy="1078992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4475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双向语言模型（biLM）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1737360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正向 LSTM 预测下一词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 LSTM 预测上一词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拼接得到双向上下文表征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523744"/>
            <a:ext cx="4023360" cy="1078992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615184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多层表征加权融合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" y="2907792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底层：捕捉词法/句法信息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高层：捕捉语义信息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下游任务学习各层权重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694176"/>
            <a:ext cx="4023360" cy="1078992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378561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作为特征注入下游模型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3776" y="4078224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冻结 ELMo 参数，提取向量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作为额外特征送入任务模型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1042416"/>
            <a:ext cx="0" cy="365760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4241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动态表征示例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1353312"/>
            <a:ext cx="39776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1426464"/>
            <a:ext cx="375818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句子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 deposited at the bank"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bank -&gt; [银行义向量]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句子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 fished at the river bank"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bank -&gt; [河岸义向量]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相同词，不同向量！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3346704"/>
            <a:ext cx="3977640" cy="566928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4015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同一个词，不同上下文 → 不同向量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这在 Word2Vec 时代是不可能的！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986784"/>
            <a:ext cx="39776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40416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+4.7%   NER +0.7%   SST情感 +1.0%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（相比 ELMo 之前的 SOTA）</a:t>
            </a:r>
            <a:endParaRPr lang="en-US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 ELMo——动态表征的破冰者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ELMo 的历史地位：开创者，而非终点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424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留下的遗产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4023360" cy="1078992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4475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开创预训练+迁移范式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1737360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证明『大语料预训练，小任务迁移』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这一路线行得通，影响了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和 GPT 的整体设计思路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523744"/>
            <a:ext cx="4023360" cy="1078992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615184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上下文感知可行性验证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" y="2907792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首次在 NLP 大规模验证了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动态上下文表征的有效性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694176"/>
            <a:ext cx="4023360" cy="1078992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378561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分层语义的启发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3776" y="4078224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不同层捕捉不同粒度信息的思想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影响了后续 BERT 层分析研究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及 probing 实验方法论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1042416"/>
            <a:ext cx="0" cy="365760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4241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局限与最终命运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1353312"/>
            <a:ext cx="3977640" cy="1078992"/>
          </a:xfrm>
          <a:prstGeom prst="rect">
            <a:avLst/>
          </a:prstGeom>
          <a:solidFill>
            <a:srgbClr val="FFF3F3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1444752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串行，速度慢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28616" y="1737360"/>
            <a:ext cx="3721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无法并行计算，训练和推理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效率远低于 Transformer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523744"/>
            <a:ext cx="3977640" cy="1078992"/>
          </a:xfrm>
          <a:prstGeom prst="rect">
            <a:avLst/>
          </a:prstGeom>
          <a:solidFill>
            <a:srgbClr val="FFF3F3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8616" y="2615184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特征注入，非端到端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28616" y="2907792"/>
            <a:ext cx="3721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预训练特征作为额外输入注入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而非整体 fine-tune，灵活性差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3694176"/>
            <a:ext cx="3977640" cy="1078992"/>
          </a:xfrm>
          <a:prstGeom prst="rect">
            <a:avLst/>
          </a:prstGeom>
          <a:solidFill>
            <a:srgbClr val="FFF3F3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3785616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深度受限，表征上限低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28616" y="4078224"/>
            <a:ext cx="3721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通常只用 2 层 LSTM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表征能力明显低于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深层 Transformer</a:t>
            </a:r>
            <a:endParaRPr lang="en-US" sz="1050" dirty="0"/>
          </a:p>
        </p:txBody>
      </p:sp>
      <p:sp>
        <p:nvSpPr>
          <p:cNvPr id="26" name="TextBox 2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GPT——Transformer 时代的开启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Radford et al. · 2018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 GPT——Transformer 时代的开启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GPT：押注单向 Transformer，统一 fine-tune 范式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424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核心设计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4023360" cy="1078992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4475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Decoder（单向）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1737360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token 只能看左边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因果注意力掩码确保自回归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层，117M 参数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523744"/>
            <a:ext cx="4023360" cy="1078992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615184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预训练：下一词预测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" y="2907792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P(w_t | w_1,...,w_{t-1})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最自然的无监督学习目标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BooksCorpus 上预训练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694176"/>
            <a:ext cx="4023360" cy="1078992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378561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 fine-tune 方案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3776" y="4078224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所有任务改造为序列输入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在同一模型上 fine-tune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无需任务专用架构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1042416"/>
            <a:ext cx="0" cy="365760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4241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任务输入改造方案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1353312"/>
            <a:ext cx="3977640" cy="175564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1426464"/>
            <a:ext cx="375818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分类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[Start] text [Extract]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文本蕴含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[Start] premise $ hypo [Extract]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问答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[Start] ctx $ answer_k [Extract]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318211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所有任务 → 同一模型，统一输入格式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547872"/>
            <a:ext cx="397764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639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3639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特征注入 · LSTM · 非端到端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19472" y="3968496"/>
            <a:ext cx="365760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40599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0" y="40599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 ft · Transformer · 统一</a:t>
            </a:r>
            <a:endParaRPr lang="en-US" sz="1050" dirty="0"/>
          </a:p>
        </p:txBody>
      </p:sp>
      <p:sp>
        <p:nvSpPr>
          <p:cNvPr id="26" name="TextBox 2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 GPT——Transformer 时代的开启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的历史地位：方向选对了，时机差了点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424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确立的贡献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4023360" cy="1078992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4475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是首选主干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1737360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彻底替代 LSTM，Transformer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成为预训练模型的标准架构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523744"/>
            <a:ext cx="4023360" cy="1078992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615184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语言模型是通用预训练目标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" y="2907792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token prediction 简单有效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GPT-2/3/4 全部沿用此目标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694176"/>
            <a:ext cx="4023360" cy="1078992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378561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 fine-tune 范式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3776" y="4078224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一模型多任务，而非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为每任务重新设计架构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下游适配成本大幅降低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1042416"/>
            <a:ext cx="0" cy="365760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4241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当时的局限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1353312"/>
            <a:ext cx="3977640" cy="1005840"/>
          </a:xfrm>
          <a:prstGeom prst="rect">
            <a:avLst/>
          </a:prstGeom>
          <a:solidFill>
            <a:srgbClr val="FFF8EC"/>
          </a:solidFill>
          <a:ln w="9525">
            <a:solidFill>
              <a:srgbClr val="D472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426464"/>
            <a:ext cx="3749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单向模型的天然缺陷
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从左到右只看"过去"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对于理解/分类任务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双向上下文信息更有价值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450592"/>
            <a:ext cx="397764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历史评价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2871216"/>
            <a:ext cx="37490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发布仅两个月后，BERT 横空出世，在所有理解任务上大幅超越 GPT，让 GPT 的光芒黯淡了将近两年。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 OpenAI 坚持了生成式路线，而这个看似'错误'的选择，最终通向了 GPT-2、GPT-3，以及 ChatGPT。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生成式 vs 理解式，是 2018 年 NLP 最重要的技术分歧。</a:t>
            </a:r>
            <a:endParaRPr lang="en-US" sz="1050" dirty="0"/>
          </a:p>
        </p:txBody>
      </p:sp>
      <p:sp>
        <p:nvSpPr>
          <p:cNvPr id="22" name="TextBox 2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BERT——双向理解的集大成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Devlin et al. · Google · 2018.10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 BERT——双向理解的集大成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BERT：两个关键预训练目标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任务一：Masked LM（MLM）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16736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随机遮盖 15% 的 token，让模型预测被遮住的词。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真正实现了双向上下文建模。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4023360" cy="153619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975104"/>
            <a:ext cx="380390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输入: "The cat [MASK] on the mat"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预测: [MASK] -&gt; "sat"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同时看左边"The cat"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和右边"on the mat"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511296"/>
            <a:ext cx="4023360" cy="109728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3584448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遮盖策略（15% token）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" y="3840480"/>
            <a:ext cx="3767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替换为 [MASK]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替换为随机词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保持原词不变（减少训练-推理不一致）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987552"/>
            <a:ext cx="0" cy="3621024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9875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任务二：Next Sentence Prediction（NSP）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316736"/>
            <a:ext cx="3977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判断句子 B 是否是句子 A 的真实下一句。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目标是帮助模型理解句间关系。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1901952"/>
            <a:ext cx="3977640" cy="2048256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1975104"/>
            <a:ext cx="375818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[CLS] Sentence A [SEP] Sentence 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正例（50%）: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A: "He went to the store."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B: "He bought milk."  -&gt; IsNext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负例（50%）: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A: "He went to the store."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B: "The sky is blue."  -&gt; NotNext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4023360"/>
            <a:ext cx="3977640" cy="585216"/>
          </a:xfrm>
          <a:prstGeom prst="rect">
            <a:avLst/>
          </a:prstGeom>
          <a:solidFill>
            <a:srgbClr val="FFF8EC"/>
          </a:solidFill>
          <a:ln w="9525">
            <a:solidFill>
              <a:srgbClr val="D472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40873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后来被质疑：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直接去掉 NSP，效果反而更好。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NSP 任务太简单，对模型没有实质提升。</a:t>
            </a:r>
            <a:endParaRPr lang="en-US" sz="1050" dirty="0"/>
          </a:p>
        </p:txBody>
      </p:sp>
      <p:sp>
        <p:nvSpPr>
          <p:cNvPr id="19" name="TextBox 1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 BERT——双向理解的集大成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为何横扫 NLP 榜单？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841248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607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层 / 768 维 / 110M 参数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0" y="10607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BERT-Large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12984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层 / 1024 维 / 340M 参数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0" y="10607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预训练数据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12984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BooksCorpus + Wikipedia（16GB）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17556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下游任务适配方式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4114800" cy="658368"/>
          </a:xfrm>
          <a:prstGeom prst="rect">
            <a:avLst/>
          </a:prstGeom>
          <a:solidFill>
            <a:srgbClr val="EBF4FA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1945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句子分类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219456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 [CLS] 向量 → 分类层 fine-tune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103120"/>
            <a:ext cx="4114800" cy="658368"/>
          </a:xfrm>
          <a:prstGeom prst="rect">
            <a:avLst/>
          </a:prstGeom>
          <a:solidFill>
            <a:srgbClr val="F0FAF4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1945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命名实体识别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219456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token 向量 → 序列标注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852928"/>
            <a:ext cx="4114800" cy="658368"/>
          </a:xfrm>
          <a:prstGeom prst="rect">
            <a:avLst/>
          </a:prstGeom>
          <a:solidFill>
            <a:srgbClr val="FFF8EC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9443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问答（SQuAD）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83080" y="294436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 span 的起止位置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852928"/>
            <a:ext cx="4114800" cy="658368"/>
          </a:xfrm>
          <a:prstGeom prst="rect">
            <a:avLst/>
          </a:prstGeom>
          <a:solidFill>
            <a:srgbClr val="EBF4FA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9443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句对任务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80760" y="294436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A [SEP] B → 关系分类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307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发布时的成绩单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0050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GLUE 综合榜     +7.7%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40050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SQuAD v1.1      +1.5%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2793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SQuAD v2.0      +5.1%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42793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SWAG 常识推理  +27.1%</a:t>
            </a:r>
            <a:endParaRPr lang="en-US" sz="1100" dirty="0"/>
          </a:p>
        </p:txBody>
      </p:sp>
      <p:sp>
        <p:nvSpPr>
          <p:cNvPr id="31" name="TextBox 3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 BERT——双向理解的集大成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的争议：并非完美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424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三大争议与局限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4023360" cy="1078992"/>
          </a:xfrm>
          <a:prstGeom prst="rect">
            <a:avLst/>
          </a:prstGeom>
          <a:solidFill>
            <a:srgbClr val="FFF3F3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4475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训练-推理不一致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1737360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训练时出现 [MASK]，推理时没有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模型在 fine-tune 阶段从未见过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真实的 [MASK] token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523744"/>
            <a:ext cx="4023360" cy="1078992"/>
          </a:xfrm>
          <a:prstGeom prst="rect">
            <a:avLst/>
          </a:prstGeom>
          <a:solidFill>
            <a:srgbClr val="FFF3F3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615184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NSP 任务无效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" y="2907792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后来 RoBERTa 证明直接去掉 NSP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效果反而更好——任务太简单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模型靠话题不一致就能判断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694176"/>
            <a:ext cx="4023360" cy="1078992"/>
          </a:xfrm>
          <a:prstGeom prst="rect">
            <a:avLst/>
          </a:prstGeom>
          <a:solidFill>
            <a:srgbClr val="FFF3F3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378561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不擅长生成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3776" y="4078224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双向结构不适合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自回归文本生成，无法做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续写、翻译、摘要等任务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1042416"/>
            <a:ext cx="0" cy="365760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4241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历史影响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1353312"/>
            <a:ext cx="3977640" cy="1078992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4447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41264" y="1444752"/>
            <a:ext cx="31272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RoBERTa、ALBERT、XLNet 等大量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变体涌现，试图修复其缺陷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523744"/>
            <a:ext cx="3977640" cy="1078992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61518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41264" y="2615184"/>
            <a:ext cx="31272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在工业界大规模落地：搜索排序、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问答系统、文本分类标配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3694176"/>
            <a:ext cx="3977640" cy="1078992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37856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41264" y="3785616"/>
            <a:ext cx="31272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模型在理解任务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（如文本嵌入、分类）仍有优势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但生成式趋势已完全主导大模型</a:t>
            </a:r>
            <a:endParaRPr lang="en-US" sz="1050" dirty="0"/>
          </a:p>
        </p:txBody>
      </p:sp>
      <p:sp>
        <p:nvSpPr>
          <p:cNvPr id="26" name="TextBox 2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百花齐放——BERT 变体时代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· ALBERT · XLNet · DistilBERT · BART · ELECTRA  ·  2019–2020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 百花齐放——BERT 变体时代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RoBERTa（2019, Facebook）：把 BERT 训练好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核心改动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023360" cy="73152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37160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去掉 NSP 任务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1636776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只保留 MLM，证明 NSP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对模型没有实质帮助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023360" cy="73152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17627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更长训练 + 更大 batch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" y="2441448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训练步数 10x、batch 8x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数据量增加至 160GB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4023360" cy="73152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2980944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 Masking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3776" y="324612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每次送入不同的 mask 序列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而非静态预生成，防过拟合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712464"/>
            <a:ext cx="4023360" cy="73152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378561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更长序列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3776" y="4050792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512 → 全程 512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（原 BERT 有部分 128 步）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987552"/>
            <a:ext cx="0" cy="365760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9875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核心结论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1298448"/>
            <a:ext cx="39776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371600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"BERT 训练严重不足——更多数据、更长训练、更大 batch，就能大幅超越原始 BERT，无需改架构。"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487168"/>
            <a:ext cx="3977640" cy="117043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2560320"/>
            <a:ext cx="37581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GLUE 榜单（相比 BERT-Large）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RoBERTa-Large: 88.5  (+2.2)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SQuAD 2.0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RoBERTa:  86.8  vs  BERT: 83.1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749040"/>
            <a:ext cx="3977640" cy="475488"/>
          </a:xfrm>
          <a:prstGeom prst="rect">
            <a:avLst/>
          </a:prstGeom>
          <a:solidFill>
            <a:srgbClr val="F0FAF4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3822192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历史评价：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工程调参的胜利。'好好训练'这条原则至今有效，影响了后来所有大模型的训练策略</a:t>
            </a:r>
            <a:endParaRPr lang="en-US" sz="1050" dirty="0"/>
          </a:p>
        </p:txBody>
      </p:sp>
      <p:sp>
        <p:nvSpPr>
          <p:cNvPr id="26" name="TextBox 2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 百花齐放——BERT 变体时代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ALBERT（2019, Google）：让 BERT 变瘦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三大压缩技术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023360" cy="91440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389888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词嵌入因子分解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1682496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词表大 embedding (V×H) 分解为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两个小矩阵 (V×E + E×H)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&lt;&lt; H，大幅减少词表参数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4023360" cy="91440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395728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跨层参数共享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" y="2688336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Transformer 层共享同一套权重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参数量从 O(L) 降至 O(1)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但前向传播层数不变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310128"/>
            <a:ext cx="4023360" cy="91440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3401568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替换 NSP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3776" y="3694176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Order Prediction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预测两段是否顺序互换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 NSP 更难，更有效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987552"/>
            <a:ext cx="0" cy="365760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9875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效果与尴尬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1298448"/>
            <a:ext cx="3977640" cy="157276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1371600"/>
            <a:ext cx="3758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参数量对比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BERT-Large:   340M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ALBERT-Large: 18M  (参数 -95%!)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但推理速度...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ALBERT-Large: 与 BERT-Large 一样慢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(层数相同，只是共享了权重)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962656"/>
            <a:ext cx="3977640" cy="804672"/>
          </a:xfrm>
          <a:prstGeom prst="rect">
            <a:avLst/>
          </a:prstGeom>
          <a:solidFill>
            <a:srgbClr val="FFF8EC"/>
          </a:solidFill>
          <a:ln w="9525">
            <a:solidFill>
              <a:srgbClr val="D472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03580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核心矛盾：
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参数少了，但推理速度没有变快。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大家要的是'又小又快'，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不是'小但一样慢'。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858768"/>
            <a:ext cx="3977640" cy="475488"/>
          </a:xfrm>
          <a:prstGeom prst="rect">
            <a:avLst/>
          </a:prstGeom>
          <a:solidFill>
            <a:srgbClr val="FFF8EC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3931920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历史评价：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参数共享思路在小模型场景仍有借鉴意义，但主流大模型不采用。SOP 思路被证明比 NSP 好。</a:t>
            </a:r>
            <a:endParaRPr lang="en-US" sz="1050" dirty="0"/>
          </a:p>
        </p:txBody>
      </p:sp>
      <p:sp>
        <p:nvSpPr>
          <p:cNvPr id="23" name="TextBox 2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 百花齐放——BERT 变体时代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XLNet（2019, CMU + Google）：排列语言模型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023360" cy="109728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37160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排列语言模型（PLM）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1664208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对输入序列的所有可能排列进行训练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每次选一种排列，用自回归方式预测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理论上实现了双向+自回归的结合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402336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560320"/>
            <a:ext cx="38039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句子 "A B C 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其中一种排列：3-1-4-2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预测顺序：C -&gt; A -&gt; D -&gt; 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每次预测都能看到"整句"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584448"/>
            <a:ext cx="4023360" cy="100584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365760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Transformer-XL 相对位置编码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3776" y="3931920"/>
            <a:ext cx="3767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片段循环机制 + 相对位置编码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有效处理超长文本，位置编码解耦内容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987552"/>
            <a:ext cx="0" cy="365760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9875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评价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1298448"/>
            <a:ext cx="397764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1371600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"理论很美，工程很复杂"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排列语言模型训练极其复杂，难以实现，实际效果的提升并不总能弥补工程代价。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304288"/>
            <a:ext cx="3977640" cy="1188720"/>
          </a:xfrm>
          <a:prstGeom prst="rect">
            <a:avLst/>
          </a:prstGeom>
          <a:solidFill>
            <a:srgbClr val="FFF3F3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377440"/>
            <a:ext cx="3749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被历史淘汰：
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排列 LM 实现复杂，GPT 的简单自回归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更符合'scale up'的趋势，大模型时代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XLNet 的路线基本无人跟进。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584448"/>
            <a:ext cx="3977640" cy="1005840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657600"/>
            <a:ext cx="3749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但相对位置编码留下了：
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Transformer-XL 的相对位置编码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思想影响了 RoPE、ALiBi 等编码方式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成为长上下文模型的核心技术</a:t>
            </a:r>
            <a:endParaRPr lang="en-US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 百花齐放——BERT 变体时代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&amp; BART（2019）：两种互补路线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4023360" cy="31089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024128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— 蒸馏出小 BERT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知识蒸馏（Knowledge Distillation）：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用大 BERT 作为'老师'，训练一个更小的'学生'模型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023360" cy="126187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993392"/>
            <a:ext cx="38039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效果对比（vs BERT-Base）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层数:  12 -&gt; 6  (-50%)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参数:  110M -&gt; 66M  (-40%)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速度:  1x -&gt; 1.6x  (快 60%)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性能:  保留 97% GLUE 分数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273552"/>
            <a:ext cx="4023360" cy="585216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3346704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遗产：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知识蒸馏成为移动端/边缘设备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部署小模型的标准手段，至今广泛应用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987552"/>
            <a:ext cx="0" cy="30175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987552"/>
            <a:ext cx="3977640" cy="310896"/>
          </a:xfrm>
          <a:prstGeom prst="rect">
            <a:avLst/>
          </a:prstGeom>
          <a:solidFill>
            <a:srgbClr val="E06C2E"/>
          </a:solidFill>
          <a:ln w="12700">
            <a:solidFill>
              <a:srgbClr val="E06C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0241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 — 桥接理解与生成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3716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+ 降噪预训练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用各种方式破坏文本，训练模型重建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1901952"/>
            <a:ext cx="3977640" cy="126187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975104"/>
            <a:ext cx="37581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预训练噪声方式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Token Masking (like BERT)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Token Deletion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Text Infilling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Sentence Permutation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Document Rotation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3255264"/>
            <a:ext cx="3977640" cy="603504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32841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遗产：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Encoder-Decoder+降噪的框架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直接影响了 T5 的设计理念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950208"/>
            <a:ext cx="8412480" cy="713232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4023360"/>
            <a:ext cx="8083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这两个模型代表了 2019 年 BERT 生态的两个方向：DistilBERT 走向更小更快的部署端，BART 走向更强的生成端。都在各自方向上留下了可用的成果。</a:t>
            </a:r>
            <a:endParaRPr lang="en-US" sz="1050" dirty="0"/>
          </a:p>
        </p:txBody>
      </p:sp>
      <p:sp>
        <p:nvSpPr>
          <p:cNvPr id="22" name="TextBox 2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 百花齐放——BERT 变体时代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ELECTRA（2020, Google）：判别器替代掩码预测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核心思想：替换 token 检测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023360" cy="137160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389888"/>
            <a:ext cx="37673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Generator（生成器）
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小型 MLM 模型，将某些 token 替换
为合理但错误的词
</a:t>
            </a:r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Discriminator（判别器）
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判断每个 token 是否被替换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 ELECTRA 真正学习的模型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761488"/>
            <a:ext cx="4023360" cy="148132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834640"/>
            <a:ext cx="38039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原始: "The chef cooked the meal"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Generator 替换: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"The chef ate the meal"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^^^替换了 cooked-&gt;ate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Discriminator 任务: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判断每个位置是否被替换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987552"/>
            <a:ext cx="0" cy="365760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875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效率优势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298448"/>
            <a:ext cx="39776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389888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只对被遮盖的 15% token 计算损失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ELECTRA 对所有 token 计算损失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训练信号利用率：15% → 100%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487168"/>
            <a:ext cx="39776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2560320"/>
            <a:ext cx="375818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同等算力效果对比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ELECTRA-Small vs BERT-Base: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GLUE: 79.9 vs 79.6  (小模型胜)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ELECTRA-Base vs RoBERTa-Large: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GLUE: 88.8 vs 88.5  (更少算力胜)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3767328"/>
            <a:ext cx="3977640" cy="877824"/>
          </a:xfrm>
          <a:prstGeom prst="rect">
            <a:avLst/>
          </a:prstGeom>
          <a:solidFill>
            <a:srgbClr val="FFF8EC"/>
          </a:solidFill>
          <a:ln w="9525">
            <a:solidFill>
              <a:srgbClr val="D47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38404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历史评价：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理念很好，算力效率确实更高。但大模型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时代转向生成式，Encoder 路线式微，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ELECTRA 也随之逐渐淡出视野。</a:t>
            </a:r>
            <a:endParaRPr lang="en-US" sz="1050" dirty="0"/>
          </a:p>
        </p:txBody>
      </p:sp>
      <p:sp>
        <p:nvSpPr>
          <p:cNvPr id="18" name="TextBox 1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 百花齐放——BERT 变体时代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变体时代：哪些思想活下来？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2019–2020 年的爆发式创新，验证了哪些路线，又淘汰了哪些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35024"/>
            <a:ext cx="4023360" cy="32918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389888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活下来 / 影响深远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35024"/>
            <a:ext cx="402336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82896" y="1389888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被边缘化 / 历史淘汰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4023360" cy="566928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8288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好好训练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00784" y="182880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证明：优化训练比改架构更重要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414016"/>
            <a:ext cx="4023360" cy="566928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24871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知识蒸馏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00784" y="248716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开创：小模型部署标准方法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72384"/>
            <a:ext cx="4023360" cy="566928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1455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相对位置编码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00784" y="314553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XLNet → RoPE/ALiBi，长上下文建模核心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730752"/>
            <a:ext cx="4023360" cy="566928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38039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生成式预训练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00784" y="380390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 影响 T5，Encoder-Decoder 框架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1755648"/>
            <a:ext cx="4023360" cy="566928"/>
          </a:xfrm>
          <a:prstGeom prst="rect">
            <a:avLst/>
          </a:prstGeom>
          <a:solidFill>
            <a:srgbClr val="FFF3F3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1828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NSP 任务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81344" y="182880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证伪：去掉 NSP 效果反而更好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414016"/>
            <a:ext cx="4023360" cy="566928"/>
          </a:xfrm>
          <a:prstGeom prst="rect">
            <a:avLst/>
          </a:prstGeom>
          <a:solidFill>
            <a:srgbClr val="FFF3F3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2487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层权重共享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81344" y="248716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 路线：参数少但推理没变快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072384"/>
            <a:ext cx="4023360" cy="566928"/>
          </a:xfrm>
          <a:prstGeom prst="rect">
            <a:avLst/>
          </a:prstGeom>
          <a:solidFill>
            <a:srgbClr val="FFF3F3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31455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排列语言模型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81344" y="3145536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XLNet：理论美但工程复杂，无人跟进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730752"/>
            <a:ext cx="4023360" cy="566928"/>
          </a:xfrm>
          <a:prstGeom prst="rect">
            <a:avLst/>
          </a:prstGeom>
          <a:solidFill>
            <a:srgbClr val="FFF3F3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2896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ELECTRA 判别式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81344" y="380390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路线被生成式全面取代</a:t>
            </a:r>
            <a:endParaRPr lang="en-US" sz="1050" dirty="0"/>
          </a:p>
        </p:txBody>
      </p:sp>
      <p:sp>
        <p:nvSpPr>
          <p:cNvPr id="34" name="TextBox 3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GPT-2——"不发布"的震惊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2019 · 1.5B 参数 · 零样本泛化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  GPT-2——"不发布"的震惊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GPT-2：把语言模型放大，然后什么都不做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核心设计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4023360" cy="1078992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4475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规模大幅扩大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1737360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 1.5B（GPT 的 13 倍）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层 Transformer Decoder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WebText 数据（Reddit 高赞链接）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523744"/>
            <a:ext cx="4023360" cy="1078992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615184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多任务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" y="2907792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 fine-tune，直接通过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自然语言提示完成各类任务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翻译、问答、摘要均有效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694176"/>
            <a:ext cx="4023360" cy="1078992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378561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架构几乎不变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3776" y="4078224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仍是 Decoder-only 自回归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主要改动：Layer Norm 位置调整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放大比改架构更有效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987552"/>
            <a:ext cx="0" cy="365760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9875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能力示例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1298448"/>
            <a:ext cx="3977640" cy="181051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1371600"/>
            <a:ext cx="375818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翻译（无专门训练）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 "Translate to French: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cat sat on the mat"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"Le chat etait assis"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问答（无专门训练）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 "Q: What is 2+2? A:"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"4"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3200400"/>
            <a:ext cx="3977640" cy="148132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2735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规模对比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35661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(2018)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66560" y="35661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699248" y="35661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19472" y="38404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BERT-Large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66560" y="38404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699248" y="38404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19472" y="4114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XL (2019)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66560" y="4114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1,542M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699248" y="4114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层</a:t>
            </a:r>
            <a:endParaRPr lang="en-US" sz="1050" dirty="0"/>
          </a:p>
        </p:txBody>
      </p:sp>
      <p:sp>
        <p:nvSpPr>
          <p:cNvPr id="30" name="TextBox 2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  GPT-2——"不发布"的震惊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GPT-2：历史性风波与深远遗产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"不安全，不发布"事件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02336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44752"/>
            <a:ext cx="37490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年 2 月，OpenAI 发布 GPT-2 时，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以"AI 安全风险"为由，只放出了小版本，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拒绝发布完整的 1.5B 版本。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 AI 领域首次因'生成内容危险'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而主动限制发布的重大事件，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引发了关于 AI 开放 vs 安全的激烈讨论。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3200400"/>
            <a:ext cx="4023360" cy="1481328"/>
          </a:xfrm>
          <a:prstGeom prst="rect">
            <a:avLst/>
          </a:prstGeom>
          <a:solidFill>
            <a:srgbClr val="FFF8EC"/>
          </a:solidFill>
          <a:ln w="9525">
            <a:solidFill>
              <a:srgbClr val="D472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327355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反思：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" y="3529584"/>
            <a:ext cx="37673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几个月后，OpenAI 陆续释出完整模型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后来研究者发现 GPT-2 并没有当初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预期的那么'危险'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但这场争论成为 AI 治理讨论的起点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987552"/>
            <a:ext cx="0" cy="365760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9875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技术遗产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1353312"/>
            <a:ext cx="3977640" cy="1078992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28616" y="1444752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证明了 Scale 的力量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28616" y="1737360"/>
            <a:ext cx="3721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扩大规模 + 不改架构 = 能力涌现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 GPT-3 的方向提供了信心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523744"/>
            <a:ext cx="3977640" cy="1078992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8616" y="2615184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成为目标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28616" y="2907792"/>
            <a:ext cx="3721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无需任务标注，靠提示词就能完成任务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成为后来 In-context Learning 的先驱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3694176"/>
            <a:ext cx="3977640" cy="1078992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8616" y="3785616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开启 AI 安全讨论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28616" y="4078224"/>
            <a:ext cx="3721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生成内容的风险首次被认真对待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影响了 OpenAI 后来的产品策略</a:t>
            </a:r>
            <a:endParaRPr lang="en-US" sz="1050" dirty="0"/>
          </a:p>
        </p:txBody>
      </p:sp>
      <p:sp>
        <p:nvSpPr>
          <p:cNvPr id="22" name="TextBox 2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与 GPT-3——大力出奇迹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OpenAI · 2019–2020 · Scale 时代开启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  T5 与 GPT-3——大力出奇迹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T5（2019, Google）：一切皆文本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02336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389888"/>
            <a:ext cx="3767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"Text-to-Text Transfer Transformer"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NLP 任务统一表示为：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输入文本 → 输出文本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487168"/>
            <a:ext cx="4023360" cy="219456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560320"/>
            <a:ext cx="3803904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分类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"sst2 sentence: I love it."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"positive"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翻译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"translate English to German: Hi"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"Hallo"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摘要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"summarize: The cat ..."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"A cat sat..."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987552"/>
            <a:ext cx="0" cy="365760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875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系统性研究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9844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论文本身是一篇大规模系统研究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比较了各种预训练策略：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847088"/>
            <a:ext cx="3977640" cy="420624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920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预训练目标：MLM vs 语言模型 vs 去噪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2340864"/>
            <a:ext cx="3977640" cy="420624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24140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架构：Encoder-only vs Decoder-only vs Enc-Dec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2834640"/>
            <a:ext cx="3977640" cy="420624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9077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数据集：大小 vs 质量的取舍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3328416"/>
            <a:ext cx="3977640" cy="420624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4015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Fine-tune 策略：多任务 vs 单任务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3840480"/>
            <a:ext cx="3977640" cy="822960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913632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历史遗产：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 text-to-text 框架的思想超前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影响了 FLAN、Instruction Tuning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以及后来的 Seq2Seq 系列模型</a:t>
            </a:r>
            <a:endParaRPr lang="en-US" sz="1050" dirty="0"/>
          </a:p>
        </p:txBody>
      </p:sp>
      <p:sp>
        <p:nvSpPr>
          <p:cNvPr id="23" name="TextBox 2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  T5 与 GPT-3——大力出奇迹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GPT-3（2020, OpenAI）：175B 参数，能力涌现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841248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424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97480" y="10424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97480" y="1389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深度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0424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1389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 token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95160" y="10424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×117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995160" y="1389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参数倍数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17556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核心能力：In-context Learning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103120"/>
            <a:ext cx="4023360" cy="188366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176272"/>
            <a:ext cx="3803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Few-shot（无梯度更新）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"Translate to French: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happy -&gt; heureux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cold -&gt; froid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-&gt; "  # 模型填: chat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Zero-shot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"Q: What is the capital of France?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A:"  # 模型填: Paris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078224"/>
            <a:ext cx="4023360" cy="603504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4151376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上下文学习（ICL）：在提示里给几个例子，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模型无需梯度更新就能完成新任务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1755648"/>
            <a:ext cx="0" cy="29260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75564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规模律与范式转变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2066544"/>
            <a:ext cx="3977640" cy="82296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616" y="2157984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Laws 确立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28616" y="2450592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损失与参数量、数据、算力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呈现幂律关系——更大 = 更好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2980944"/>
            <a:ext cx="3977640" cy="82296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8616" y="3072384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涌现能力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28616" y="3364992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小模型没有、大模型突然出现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思维链推理、算术、代码等能力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3895344"/>
            <a:ext cx="3977640" cy="82296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3986784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的终结？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28616" y="4279392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靠提示词完成多任务，减少标注依赖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但对齐问题由此开始凸显</a:t>
            </a:r>
            <a:endParaRPr lang="en-US" sz="1050" dirty="0"/>
          </a:p>
        </p:txBody>
      </p:sp>
      <p:sp>
        <p:nvSpPr>
          <p:cNvPr id="30" name="TextBox 2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  T5 与 GPT-3——大力出奇迹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之后：兴奋与困惑并存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令人兴奋的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4023360" cy="1078992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4475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通用性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1737360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一个模型写代码、写诗、做翻译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首次展示了真正的通用 AI 苗头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523744"/>
            <a:ext cx="4023360" cy="1078992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615184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" y="2907792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如何写提示词成为新技能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催生了一整套 prompt 设计方法论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694176"/>
            <a:ext cx="4023360" cy="1078992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378561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商业化潜力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3776" y="4078224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开放 API，大量初创公司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GPT-3 构建产品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987552"/>
            <a:ext cx="0" cy="365760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9875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遗留的困惑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1353312"/>
            <a:ext cx="3977640" cy="1078992"/>
          </a:xfrm>
          <a:prstGeom prst="rect">
            <a:avLst/>
          </a:prstGeom>
          <a:solidFill>
            <a:srgbClr val="FFF3F3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1444752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对齐问题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28616" y="1737360"/>
            <a:ext cx="3721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模型会撒谎、有偏见、有时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生成有害内容——如何控制？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523744"/>
            <a:ext cx="3977640" cy="1078992"/>
          </a:xfrm>
          <a:prstGeom prst="rect">
            <a:avLst/>
          </a:prstGeom>
          <a:solidFill>
            <a:srgbClr val="FFF3F3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8616" y="2615184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推理成本巨大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28616" y="2907792"/>
            <a:ext cx="3721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175B 模型推理极其昂贵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无法直接产品化，需要蒸馏压缩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3694176"/>
            <a:ext cx="3977640" cy="1078992"/>
          </a:xfrm>
          <a:prstGeom prst="rect">
            <a:avLst/>
          </a:prstGeom>
          <a:solidFill>
            <a:srgbClr val="FFF3F3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3785616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可解释性缺失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28616" y="4078224"/>
            <a:ext cx="3721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模型为何会这样输出？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没有人真正知道——黑箱问题</a:t>
            </a:r>
            <a:endParaRPr lang="en-US" sz="1050" dirty="0"/>
          </a:p>
        </p:txBody>
      </p:sp>
      <p:sp>
        <p:nvSpPr>
          <p:cNvPr id="26" name="TextBox 2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InstructGPT 与 ChatGPT——对齐的胜利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090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2022 · RLHF · 新时代的起点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08  InstructGPT 与 ChatGPT——对齐的胜利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InstructGPT（2022）：让模型听懂人话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的根本问题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023360" cy="1005840"/>
          </a:xfrm>
          <a:prstGeom prst="rect">
            <a:avLst/>
          </a:prstGeom>
          <a:solidFill>
            <a:srgbClr val="FFF3F3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371600"/>
            <a:ext cx="3767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的训练目标是『预测下一个 token』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而不是『完成用户的意图』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结果：能生成流畅文本，但常常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答非所问、撒谎、有害内容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三步骤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4023360" cy="54864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8163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监督微调（SFT）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9424" y="281635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人工标注示范回答，对 GPT-3 做 fine-tune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364992"/>
            <a:ext cx="4023360" cy="54864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343814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奖励模型（RM）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49424" y="34381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人工对模型回答排序，训练奖励分数预测器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986784"/>
            <a:ext cx="4023360" cy="54864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40599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PPO 强化学习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49424" y="405993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用奖励模型评分，PPO 算法优化 SFT 模型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987552"/>
            <a:ext cx="0" cy="365760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9875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效果对比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1298448"/>
            <a:ext cx="3977640" cy="148132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1371600"/>
            <a:ext cx="37581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用户偏好实验（人类评估）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GPT-3 (175B)  vs  InstructGPT (1.3B)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人类更偏好 InstructGPT：85%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更小的模型，更好的"有用性"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Scale 不是唯一答案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871216"/>
            <a:ext cx="3977640" cy="17739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944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核心意义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9472" y="3236976"/>
            <a:ext cx="3749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InstructGPT 第一次系统性地解答了：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如何让模型的输出与人类意图对齐？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『对齐』从此成为大模型的核心议题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HHH 原则（Helpful · Honest · Harmless）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成为后续所有对话模型的设计纲领</a:t>
            </a:r>
            <a:endParaRPr lang="en-US" sz="1050" dirty="0"/>
          </a:p>
        </p:txBody>
      </p:sp>
      <p:sp>
        <p:nvSpPr>
          <p:cNvPr id="25" name="TextBox 2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08  InstructGPT 与 ChatGPT——对齐的胜利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ChatGPT（2022.11）：亿级用户的 AI 时刻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841248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424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万用户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97480" y="10424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个月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697480" y="1389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亿月活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0424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2022.11.30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0" y="1389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正式上线日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95160" y="10424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史上最快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95160" y="1389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用户增长产品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17556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技术本质：并非全新架构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066544"/>
            <a:ext cx="4023360" cy="82296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157984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 + RLHF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3776" y="2450592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基础模型是 GPT-3.5（code-davinci-002）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InstructGPT 的对齐方法上迭代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980944"/>
            <a:ext cx="4023360" cy="82296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3072384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对话格式的创新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3776" y="3364992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多轮对话拼接为上下文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[System][Human][Assistant] 格式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895344"/>
            <a:ext cx="4023360" cy="82296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3986784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工程与产品的胜利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3776" y="4279392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流式输出 + 简洁界面 + 免费开放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技术成熟度与产品时机的双重红利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1755648"/>
            <a:ext cx="0" cy="29260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75564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为什么引爆了世界？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2103120"/>
            <a:ext cx="397764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1945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门槛为零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219456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无需写代码，自然语言对话即可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2724912"/>
            <a:ext cx="397764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28163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全能感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2816352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写邮件、写代码、解题……样样能用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3346704"/>
            <a:ext cx="397764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4381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即时反馈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0" y="3438144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输出连贯流畅，像真人一样回答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3968496"/>
            <a:ext cx="397764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40599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免费开放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43600" y="4059936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开放公众测试，病毒式传播</a:t>
            </a:r>
            <a:endParaRPr lang="en-US" sz="1050" dirty="0"/>
          </a:p>
        </p:txBody>
      </p:sp>
      <p:sp>
        <p:nvSpPr>
          <p:cNvPr id="38" name="TextBox 3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08  InstructGPT 与 ChatGPT——对齐的胜利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之后：新时代的几个关键词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之后，大模型时代正式开启。以下是继续演进的几个核心方向：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26464"/>
            <a:ext cx="2697480" cy="1517904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773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21396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GPT-4V、Gemini 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打通文字、图像、音频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426464"/>
            <a:ext cx="2697480" cy="1517904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773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开源生态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21396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LLaMA、Mistral 推动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开源模型迅速追赶闭源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426464"/>
            <a:ext cx="2697480" cy="1517904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1773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长上下文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44768" y="21396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4K 到 100K+ token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突破 Attention 的位置限制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27248"/>
            <a:ext cx="2697480" cy="1517904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工具调用/Agent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3840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模型调用外部 API/工具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走向可执行的自主 Agent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3127248"/>
            <a:ext cx="2697480" cy="1517904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推理能力强化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10128" y="3840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o1/R1 系列推理模型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慢思考 + 长链式推理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3127248"/>
            <a:ext cx="2697480" cy="1517904"/>
          </a:xfrm>
          <a:prstGeom prst="rect">
            <a:avLst/>
          </a:prstGeom>
          <a:solidFill>
            <a:srgbClr val="F0FAF4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对齐技术迭代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44768" y="3840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DPO、RLHF 变体持续改进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减少有害内容、提升可控性</a:t>
            </a:r>
            <a:endParaRPr lang="en-US" sz="1100" dirty="0"/>
          </a:p>
        </p:txBody>
      </p:sp>
      <p:sp>
        <p:nvSpPr>
          <p:cNvPr id="24" name="TextBox 2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08  InstructGPT 与 ChatGPT——对齐的胜利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全景回顾：从 Word2Vec 到 ChatGPT，什么留下来了？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841248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03327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十年演进中，最终活下来的 7 条核心思想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408176"/>
            <a:ext cx="8412480" cy="402336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4904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70432" y="14904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稠密词向量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84448" y="1490472"/>
            <a:ext cx="5102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→ 词嵌入是一切表征的基础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883664"/>
            <a:ext cx="8412480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19659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70432" y="19659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+ 自回归 LM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84448" y="1965960"/>
            <a:ext cx="5102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路线 → GPT-2/3/4/ChatGPT 全系列根基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359152"/>
            <a:ext cx="8412480" cy="402336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44144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70432" y="24414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预训练 + fine-tune 范式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84448" y="2441448"/>
            <a:ext cx="5102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BERT/GPT → 大数据预训练，小数据迁移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8412480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91693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70432" y="29169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更大规模 + 充分训练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84448" y="2916936"/>
            <a:ext cx="5102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→ 规模与数据质量比架构改进更重要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310128"/>
            <a:ext cx="8412480" cy="402336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339242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70432" y="33924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Text-to-Text 统一格式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84448" y="3392424"/>
            <a:ext cx="5102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→ Instruction tuning 的思想先驱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785616"/>
            <a:ext cx="8412480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386791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70432" y="38679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Learning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84448" y="3867912"/>
            <a:ext cx="5102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→ 提示词工程、zero/few-shot 范式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4261104"/>
            <a:ext cx="8412480" cy="402336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" y="434340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70432" y="43434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对齐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84448" y="4343400"/>
            <a:ext cx="5102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InstructGPT → 有用、无害、诚实的对话模型</a:t>
            </a:r>
            <a:endParaRPr lang="en-US" sz="1050" dirty="0"/>
          </a:p>
        </p:txBody>
      </p:sp>
      <p:sp>
        <p:nvSpPr>
          <p:cNvPr id="35" name="TextBox 3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08  InstructGPT 与 ChatGPT——对齐的胜利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被历史淘汰的思路，与最终的总结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4023360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024128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被历史淘汰的路线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4023360" cy="548640"/>
          </a:xfrm>
          <a:prstGeom prst="rect">
            <a:avLst/>
          </a:prstGeom>
          <a:solidFill>
            <a:srgbClr val="FFF3F3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4721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NSP 任务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00784" y="1472184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证伪：句子关系预测任务无效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023360" cy="548640"/>
          </a:xfrm>
          <a:prstGeom prst="rect">
            <a:avLst/>
          </a:prstGeom>
          <a:solidFill>
            <a:srgbClr val="FFF3F3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20939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架构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00784" y="209397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ELMo 的路线：被 Transformer 全面取代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4023360" cy="548640"/>
          </a:xfrm>
          <a:prstGeom prst="rect">
            <a:avLst/>
          </a:prstGeom>
          <a:solidFill>
            <a:srgbClr val="FFF3F3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27157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层权重共享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00784" y="271576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ALBERT：参数少但推理没变快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255264"/>
            <a:ext cx="4023360" cy="548640"/>
          </a:xfrm>
          <a:prstGeom prst="rect">
            <a:avLst/>
          </a:prstGeom>
          <a:solidFill>
            <a:srgbClr val="FFF3F3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3375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排列语言模型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00784" y="333756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XLNet：理论美，工程复杂，无人跟进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877056"/>
            <a:ext cx="4023360" cy="548640"/>
          </a:xfrm>
          <a:prstGeom prst="rect">
            <a:avLst/>
          </a:prstGeom>
          <a:solidFill>
            <a:srgbClr val="FFF3F3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39593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00784" y="395935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路线式微，生成式主导大模型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987552"/>
            <a:ext cx="0" cy="365760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987552"/>
            <a:ext cx="3977640" cy="31089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10241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最终的思考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1389888"/>
            <a:ext cx="397764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1481328"/>
            <a:ext cx="37490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这段历史告诉我们：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简单 + 可扩展 &gt; 理论优美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自回归 LM 赢了所有复杂变体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规模本身就是能力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Scale 带来的涌现超出所有预期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对齐与安全不是附加题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GPT-2 的争议最终催生了 RLHF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3310128"/>
            <a:ext cx="3977640" cy="1335024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383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不是终点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9472" y="3675888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它是过去十年积累的集大成：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预训练范式 + 规模定律 + 对齐技术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三者同时成熟，才有了那个震撼世界的聊天机器人。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下一个十年，故事还在继续。</a:t>
            </a:r>
            <a:endParaRPr lang="en-US" sz="1050" dirty="0"/>
          </a:p>
        </p:txBody>
      </p:sp>
      <p:sp>
        <p:nvSpPr>
          <p:cNvPr id="30" name="TextBox 2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