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92" r:id="rId3"/>
    <p:sldId id="257" r:id="rId4"/>
    <p:sldId id="258" r:id="rId5"/>
    <p:sldId id="259" r:id="rId6"/>
    <p:sldId id="260" r:id="rId7"/>
    <p:sldId id="293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18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2528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1F797-D109-68C6-9AF2-5A8CF4B75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9EA10-96E6-7374-0CF4-9DFC47ED2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E3BBA-6B4C-6633-52A7-56491949E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6BF52-3005-AACF-0AEF-4997A3D9FF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85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28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80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65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69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4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716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657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62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156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073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995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528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553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050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285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004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020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5217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980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792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560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634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0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89154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LLM 推理基础设施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C4DD"/>
                </a:solidFill>
              </a:rPr>
              <a:t>KV Cache · vLLM · 约束性解码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C4DD"/>
                </a:solidFill>
              </a:rPr>
              <a:t>从原理到工程：理解推理侧三块关键基础设施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2194560" cy="34747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788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系统铺垫课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为后续 Agent 框架课程打通推理与解码侧的核心机制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6AB"/>
                </a:solidFill>
              </a:rPr>
              <a:t>KV Cache  ·  PagedAttention  ·  Continuous Batching  ·  Prefix Caching  ·  Constrained Decoding</a:t>
            </a:r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推理性能的关键指标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2029968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05840"/>
            <a:ext cx="2029968" cy="4754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058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TTFT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Time to First Token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" y="1965960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011680"/>
            <a:ext cx="184708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从发送请求到收到第一个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token 的时间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907792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5351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&lt; 500ms 为优秀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影响用户体验感知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05456" y="1005840"/>
            <a:ext cx="2029968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472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05456" y="1005840"/>
            <a:ext cx="2029968" cy="47548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5" name="Text 13"/>
          <p:cNvSpPr/>
          <p:nvPr/>
        </p:nvSpPr>
        <p:spPr>
          <a:xfrm>
            <a:off x="2505456" y="10058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TPOT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96896" y="1572768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720A"/>
                </a:solidFill>
              </a:rPr>
              <a:t>Time Per Output Token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42616" y="1965960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6896" y="2011680"/>
            <a:ext cx="184708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Decode 阶段每生成一个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token 的平均耗时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42616" y="2907792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96896" y="295351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&lt; 50ms 流畅体验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= 1 / TPS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2029968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17B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005840"/>
            <a:ext cx="2029968" cy="47548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0058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Throughput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54880" y="1572768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</a:rPr>
              <a:t>系统吞吐量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1965960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011680"/>
            <a:ext cx="184708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单位时间内处理的总 token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数（所有并发请求之和）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2907792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95351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高并发部署核心指标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单位：token/s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21424" y="1005840"/>
            <a:ext cx="2029968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21424" y="1005840"/>
            <a:ext cx="2029968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821424" y="10058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MFU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12864" y="1572768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Model FLOPs Utilization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58584" y="1965960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12864" y="2011680"/>
            <a:ext cx="184708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GPU 实际算力利用率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vs 峰值算力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58584" y="2907792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12864" y="295351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Decode 通常 &lt; 20%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Prefill 可达 40%+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4590288"/>
            <a:ext cx="8449056" cy="329184"/>
          </a:xfrm>
          <a:prstGeom prst="rect">
            <a:avLst/>
          </a:prstGeom>
          <a:solidFill>
            <a:srgbClr val="EBF4FA"/>
          </a:solidFill>
          <a:ln w="7620">
            <a:solidFill>
              <a:srgbClr val="2E8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46085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核心矛盾：低延迟 / 高吞吐 / 低显存三者难以同时最优 —— 推理优化的本质是在三角约束中找最佳平衡点</a:t>
            </a:r>
            <a:endParaRPr lang="en-US" sz="1050" dirty="0"/>
          </a:p>
        </p:txBody>
      </p:sp>
      <p:sp>
        <p:nvSpPr>
          <p:cNvPr id="39" name="TextBox 3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KV Cache 是什么、为何而生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9C4DD"/>
                </a:solidFill>
              </a:rPr>
              <a:t>自回归解码 · 重复计算痛点 · 缓存机制 · 显存代价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3A5F"/>
                </a:solidFill>
              </a:rPr>
              <a:t>自回归解码的两个阶段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Prefill 阶段：处理 prompt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069080" cy="15544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输入：</a:t>
            </a:r>
            <a:r>
              <a:rPr lang="en-US" sz="1100" dirty="0">
                <a:solidFill>
                  <a:srgbClr val="2D2D2D"/>
                </a:solidFill>
              </a:rPr>
              <a:t>整段 prompt（n 个 token）一次性进入模型
</a:t>
            </a:r>
            <a:r>
              <a:rPr lang="en-US" sz="1100" b="1" dirty="0">
                <a:solidFill>
                  <a:srgbClr val="2E86AB"/>
                </a:solidFill>
              </a:rPr>
              <a:t>计算：</a:t>
            </a:r>
            <a:r>
              <a:rPr lang="en-US" sz="1100" dirty="0">
                <a:solidFill>
                  <a:srgbClr val="2D2D2D"/>
                </a:solidFill>
              </a:rPr>
              <a:t>对所有 n 个位置并行做 Attention
</a:t>
            </a:r>
            <a:r>
              <a:rPr lang="en-US" sz="1100" b="1" dirty="0">
                <a:solidFill>
                  <a:srgbClr val="2E86AB"/>
                </a:solidFill>
              </a:rPr>
              <a:t>输出：</a:t>
            </a:r>
            <a:r>
              <a:rPr lang="en-US" sz="1100" dirty="0">
                <a:solidFill>
                  <a:srgbClr val="2D2D2D"/>
                </a:solidFill>
              </a:rPr>
              <a:t>下一个 token 的概率分布
</a:t>
            </a:r>
            <a:r>
              <a:rPr lang="en-US" sz="1100" b="1" dirty="0">
                <a:solidFill>
                  <a:srgbClr val="2E86AB"/>
                </a:solidFill>
              </a:rPr>
              <a:t>特点：</a:t>
            </a:r>
            <a:r>
              <a:rPr lang="en-US" sz="1100" dirty="0">
                <a:solidFill>
                  <a:srgbClr val="2D2D2D"/>
                </a:solidFill>
              </a:rPr>
              <a:t>算力密集（compute-bound）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78992"/>
            <a:ext cx="40690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7899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Decode 阶段：逐 token 生成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481328"/>
            <a:ext cx="4069080" cy="1554480"/>
          </a:xfrm>
          <a:prstGeom prst="rect">
            <a:avLst/>
          </a:prstGeom>
          <a:solidFill>
            <a:srgbClr val="EBF4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5448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输入：</a:t>
            </a:r>
            <a:r>
              <a:rPr lang="en-US" sz="1100" dirty="0">
                <a:solidFill>
                  <a:srgbClr val="2D2D2D"/>
                </a:solidFill>
              </a:rPr>
              <a:t>上一步生成的 1 个 token
</a:t>
            </a:r>
            <a:r>
              <a:rPr lang="en-US" sz="1100" b="1" dirty="0">
                <a:solidFill>
                  <a:srgbClr val="1E3A5F"/>
                </a:solidFill>
              </a:rPr>
              <a:t>计算：</a:t>
            </a:r>
            <a:r>
              <a:rPr lang="en-US" sz="1100" dirty="0">
                <a:solidFill>
                  <a:srgbClr val="2D2D2D"/>
                </a:solidFill>
              </a:rPr>
              <a:t>对当前位置做 Attention（看前面所有 token）
</a:t>
            </a:r>
            <a:r>
              <a:rPr lang="en-US" sz="1100" b="1" dirty="0">
                <a:solidFill>
                  <a:srgbClr val="1E3A5F"/>
                </a:solidFill>
              </a:rPr>
              <a:t>输出：</a:t>
            </a:r>
            <a:r>
              <a:rPr lang="en-US" sz="1100" dirty="0">
                <a:solidFill>
                  <a:srgbClr val="2D2D2D"/>
                </a:solidFill>
              </a:rPr>
              <a:t>下一个 token，循环到 EOS
</a:t>
            </a:r>
            <a:r>
              <a:rPr lang="en-US" sz="1100" b="1" dirty="0">
                <a:solidFill>
                  <a:srgbClr val="1E3A5F"/>
                </a:solidFill>
              </a:rPr>
              <a:t>特点：</a:t>
            </a:r>
            <a:r>
              <a:rPr lang="en-US" sz="1100" dirty="0">
                <a:solidFill>
                  <a:srgbClr val="2D2D2D"/>
                </a:solidFill>
              </a:rPr>
              <a:t>访存密集（memory-bound）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时序示意（生成 4 个新 token）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1463040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611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Prefill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86791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 tokens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0" y="3863340"/>
            <a:ext cx="1828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011680" y="3611880"/>
            <a:ext cx="14630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0" y="3611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Decode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386791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+1 tok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3863340"/>
            <a:ext cx="1828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57600" y="3611880"/>
            <a:ext cx="14630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611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Decode 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386791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+1 tok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3863340"/>
            <a:ext cx="1828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03520" y="3611880"/>
            <a:ext cx="14630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3611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Decode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386791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+1 tok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3863340"/>
            <a:ext cx="1828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949440" y="3611880"/>
            <a:ext cx="14630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3611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Decode 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386791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+1 tok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2976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D2D2D"/>
                </a:solidFill>
              </a:rPr>
              <a:t>观察：Decode 阶段每步仅生成 1 个 token，但每步都在访问/计算前面所有位置的 K、V</a:t>
            </a:r>
            <a:endParaRPr lang="en-US" sz="1100" dirty="0"/>
          </a:p>
        </p:txBody>
      </p:sp>
      <p:sp>
        <p:nvSpPr>
          <p:cNvPr id="34" name="TextBox 3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朴素实现的痛点：每步都在重算 K、V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假设已生成 t 个 token，要生成第 t+1 个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6908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朴素方案：每步都重算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069080" cy="246888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38404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1. </a:t>
            </a:r>
            <a:r>
              <a:rPr lang="en-US" sz="1100" dirty="0">
                <a:solidFill>
                  <a:srgbClr val="2D2D2D"/>
                </a:solidFill>
              </a:rPr>
              <a:t>把已有的 t 个 token 重新输入模型
</a:t>
            </a:r>
            <a:r>
              <a:rPr lang="en-US" sz="1100" b="1" dirty="0">
                <a:solidFill>
                  <a:srgbClr val="C0392B"/>
                </a:solidFill>
              </a:rPr>
              <a:t>2. </a:t>
            </a:r>
            <a:r>
              <a:rPr lang="en-US" sz="1100" dirty="0">
                <a:solidFill>
                  <a:srgbClr val="2D2D2D"/>
                </a:solidFill>
              </a:rPr>
              <a:t>每一层都重新计算所有 t 个位置的 Q、K、V
</a:t>
            </a:r>
            <a:r>
              <a:rPr lang="en-US" sz="1100" b="1" dirty="0">
                <a:solidFill>
                  <a:srgbClr val="C0392B"/>
                </a:solidFill>
              </a:rPr>
              <a:t>3. </a:t>
            </a:r>
            <a:r>
              <a:rPr lang="en-US" sz="1100" dirty="0">
                <a:solidFill>
                  <a:srgbClr val="2D2D2D"/>
                </a:solidFill>
              </a:rPr>
              <a:t>做完整 Attention，取最后一个位置的输出
</a:t>
            </a:r>
            <a:r>
              <a:rPr lang="en-US" sz="1100" b="1" dirty="0">
                <a:solidFill>
                  <a:srgbClr val="C0392B"/>
                </a:solidFill>
              </a:rPr>
              <a:t>代价：</a:t>
            </a:r>
            <a:r>
              <a:rPr lang="en-US" sz="1100" dirty="0">
                <a:solidFill>
                  <a:srgbClr val="2D2D2D"/>
                </a:solidFill>
              </a:rPr>
              <a:t>前 t-1 个位置的 K、V 在上一步早就算过
这一步又算了一遍 → </a:t>
            </a:r>
            <a:r>
              <a:rPr lang="en-US" sz="1100" b="1" dirty="0">
                <a:solidFill>
                  <a:srgbClr val="C0392B"/>
                </a:solidFill>
              </a:rPr>
              <a:t>纯粹浪费
复杂度：</a:t>
            </a:r>
            <a:r>
              <a:rPr lang="en-US" sz="1100" dirty="0">
                <a:solidFill>
                  <a:srgbClr val="2D2D2D"/>
                </a:solidFill>
              </a:rPr>
              <a:t>生成 n 个 token 总共 O(n³·d)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4069080" cy="3657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4173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图示：每步重算的范围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874520"/>
            <a:ext cx="329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6666"/>
                </a:solidFill>
              </a:rPr>
              <a:t>t1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861304" y="1874520"/>
            <a:ext cx="329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6666"/>
                </a:solidFill>
              </a:rPr>
              <a:t>t2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90488" y="1874520"/>
            <a:ext cx="329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6666"/>
                </a:solidFill>
              </a:rPr>
              <a:t>t3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19672" y="1874520"/>
            <a:ext cx="329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6666"/>
                </a:solidFill>
              </a:rPr>
              <a:t>t4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48856" y="1874520"/>
            <a:ext cx="329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6666"/>
                </a:solidFill>
              </a:rPr>
              <a:t>t5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214884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Step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32120" y="2148840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61304" y="2148840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0488" y="2148840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2148840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48856" y="2148840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47802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Step 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32120" y="2478024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61304" y="2478024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0488" y="2478024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9672" y="2478024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48856" y="2478024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80720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Step 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32120" y="2807208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61304" y="2807208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0488" y="2807208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9672" y="2807208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48856" y="2807208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136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Step 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32120" y="3136392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61304" y="3136392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0488" y="3136392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19672" y="3136392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8856" y="3136392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46557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Step 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32120" y="3465576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61304" y="3465576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90488" y="3465576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19672" y="3465576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8856" y="3465576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406908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红色：该步要重新计算 K、V    灰色：还未生成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09160" y="42976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</a:rPr>
              <a:t>Step 5 重算了 5 个位置；其中 4 个在前几步算过 → 巨大冗余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能不能把已经算过的 K、V 缓存下来，下一步直接用？这就是 KV Cache</a:t>
            </a:r>
            <a:endParaRPr lang="en-US" sz="1200" dirty="0"/>
          </a:p>
        </p:txBody>
      </p:sp>
      <p:sp>
        <p:nvSpPr>
          <p:cNvPr id="51" name="TextBox 5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K、V 可以缓存，Q 不能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为什么 K、V 可以缓存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</a:rPr>
              <a:t>K_i = W_K · h_i        V_i = W_V · h_i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关键观察：</a:t>
            </a:r>
            <a:r>
              <a:rPr lang="en-US" sz="1100" dirty="0">
                <a:solidFill>
                  <a:srgbClr val="2D2D2D"/>
                </a:solidFill>
              </a:rPr>
              <a:t>第 i 个位置的 K、V 只依赖第 i 个 token 的 hidden state h_i
→ 与未来要生成什么 token 无关
</a:t>
            </a:r>
            <a:r>
              <a:rPr lang="en-US" sz="1100" b="1" dirty="0">
                <a:solidFill>
                  <a:srgbClr val="2E86AB"/>
                </a:solidFill>
              </a:rPr>
              <a:t>→ 一旦算出，永远不变，可以缓存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06908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</a:rPr>
              <a:t>Q_t = W_Q · h_t   （每步的 h_t 在变）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520440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为什么 Q 不能缓存：</a:t>
            </a:r>
            <a:r>
              <a:rPr lang="en-US" sz="1100" dirty="0">
                <a:solidFill>
                  <a:srgbClr val="2D2D2D"/>
                </a:solidFill>
              </a:rPr>
              <a:t>Q 是"我要查什么"，每一步要查的对象不同
新生成的 token 必然有新的 Q，必须重新算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启用 KV Cache 后的 Decode 步骤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1508760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输入新 token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17099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只把上一步生成的 1 个 token 送入模型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11226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112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20665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算新位置的 Q,K,V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2313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每层只算 1 个位置（不是 t 个）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71576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715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2670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把新 K,V 拼到缓存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29169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Cache_K = [Cache_K, K_t]，V 同理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319272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319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3273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Attention 用整个缓存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Q_t 与缓存中所有 K、V 做注意力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922776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8770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输出 logits → 采样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41239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得到下一个 token，回到第 1 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4572000"/>
            <a:ext cx="3977640" cy="38404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457200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每步 Attention 复杂度：O(n²·d) → O(n·d)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47DB6-709D-6F56-CB8F-D885A6C3E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40E7DA5-B0E1-536E-E09D-6F0303349F06}"/>
              </a:ext>
            </a:extLst>
          </p:cNvPr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ECCEA128-6B39-78A6-B31C-FAD09DFF9412}"/>
              </a:ext>
            </a:extLst>
          </p:cNvPr>
          <p:cNvSpPr/>
          <p:nvPr/>
        </p:nvSpPr>
        <p:spPr>
          <a:xfrm>
            <a:off x="347472" y="855877"/>
            <a:ext cx="2743200" cy="4133088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30D278FB-79FA-0CDA-90CE-5E215DF12B36}"/>
              </a:ext>
            </a:extLst>
          </p:cNvPr>
          <p:cNvSpPr/>
          <p:nvPr/>
        </p:nvSpPr>
        <p:spPr>
          <a:xfrm>
            <a:off x="347472" y="855877"/>
            <a:ext cx="2743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16A06CBA-6638-BFBD-34B6-DC5AB855FD37}"/>
              </a:ext>
            </a:extLst>
          </p:cNvPr>
          <p:cNvSpPr/>
          <p:nvPr/>
        </p:nvSpPr>
        <p:spPr>
          <a:xfrm>
            <a:off x="347472" y="85587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MHA</a:t>
            </a:r>
            <a:endParaRPr lang="en-US" sz="1600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BBC31B53-BA50-909A-58B5-1DEF27855860}"/>
              </a:ext>
            </a:extLst>
          </p:cNvPr>
          <p:cNvSpPr/>
          <p:nvPr/>
        </p:nvSpPr>
        <p:spPr>
          <a:xfrm>
            <a:off x="438912" y="1367941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Multi-Head Attention</a:t>
            </a:r>
            <a:endParaRPr lang="en-US" sz="1000" dirty="0"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38D03DBE-6897-01C1-D9BC-489BC7F82071}"/>
              </a:ext>
            </a:extLst>
          </p:cNvPr>
          <p:cNvSpPr/>
          <p:nvPr/>
        </p:nvSpPr>
        <p:spPr>
          <a:xfrm>
            <a:off x="438912" y="1678837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每个 Q head 都有独立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的 K head 和 V head</a:t>
            </a:r>
            <a:endParaRPr lang="en-US" sz="11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EAAC8211-9A56-C6AA-F500-BEF4EC66A448}"/>
              </a:ext>
            </a:extLst>
          </p:cNvPr>
          <p:cNvSpPr/>
          <p:nvPr/>
        </p:nvSpPr>
        <p:spPr>
          <a:xfrm>
            <a:off x="438912" y="2355493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Q heads:</a:t>
            </a:r>
            <a:endParaRPr lang="en-US" sz="900" dirty="0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506C86D4-8ED7-1118-455E-74183DBDCCF4}"/>
              </a:ext>
            </a:extLst>
          </p:cNvPr>
          <p:cNvSpPr/>
          <p:nvPr/>
        </p:nvSpPr>
        <p:spPr>
          <a:xfrm>
            <a:off x="1307592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FED53A75-6866-9D34-8DA1-CC38122FC7D5}"/>
              </a:ext>
            </a:extLst>
          </p:cNvPr>
          <p:cNvSpPr/>
          <p:nvPr/>
        </p:nvSpPr>
        <p:spPr>
          <a:xfrm>
            <a:off x="1508760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A782E368-62AF-803A-9BC0-F38352909123}"/>
              </a:ext>
            </a:extLst>
          </p:cNvPr>
          <p:cNvSpPr/>
          <p:nvPr/>
        </p:nvSpPr>
        <p:spPr>
          <a:xfrm>
            <a:off x="1709928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DC37266B-2E98-8D7F-1AD2-110077BA250D}"/>
              </a:ext>
            </a:extLst>
          </p:cNvPr>
          <p:cNvSpPr/>
          <p:nvPr/>
        </p:nvSpPr>
        <p:spPr>
          <a:xfrm>
            <a:off x="1911096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1DD20A6B-3481-DC81-465E-B1D272A804A0}"/>
              </a:ext>
            </a:extLst>
          </p:cNvPr>
          <p:cNvSpPr/>
          <p:nvPr/>
        </p:nvSpPr>
        <p:spPr>
          <a:xfrm>
            <a:off x="2112264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89F20A02-20C5-93BD-CCE5-F62D2DA3F179}"/>
              </a:ext>
            </a:extLst>
          </p:cNvPr>
          <p:cNvSpPr/>
          <p:nvPr/>
        </p:nvSpPr>
        <p:spPr>
          <a:xfrm>
            <a:off x="2313432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07C5D67B-400C-2372-EBEC-70B1C6CB011F}"/>
              </a:ext>
            </a:extLst>
          </p:cNvPr>
          <p:cNvSpPr/>
          <p:nvPr/>
        </p:nvSpPr>
        <p:spPr>
          <a:xfrm>
            <a:off x="2514600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A6AF8A7C-A934-2E7E-F4D4-8B89A167177D}"/>
              </a:ext>
            </a:extLst>
          </p:cNvPr>
          <p:cNvSpPr/>
          <p:nvPr/>
        </p:nvSpPr>
        <p:spPr>
          <a:xfrm>
            <a:off x="2715768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1068E29A-18C3-8B89-FA27-402965723EED}"/>
              </a:ext>
            </a:extLst>
          </p:cNvPr>
          <p:cNvSpPr/>
          <p:nvPr/>
        </p:nvSpPr>
        <p:spPr>
          <a:xfrm>
            <a:off x="438912" y="266638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KV heads:</a:t>
            </a:r>
            <a:endParaRPr lang="en-US" sz="900" dirty="0"/>
          </a:p>
        </p:txBody>
      </p:sp>
      <p:sp>
        <p:nvSpPr>
          <p:cNvPr id="51" name="Shape 18">
            <a:extLst>
              <a:ext uri="{FF2B5EF4-FFF2-40B4-BE49-F238E27FC236}">
                <a16:creationId xmlns:a16="http://schemas.microsoft.com/office/drawing/2014/main" id="{C3F1F916-6748-171E-6535-7CDF87DF7FF9}"/>
              </a:ext>
            </a:extLst>
          </p:cNvPr>
          <p:cNvSpPr/>
          <p:nvPr/>
        </p:nvSpPr>
        <p:spPr>
          <a:xfrm>
            <a:off x="1307592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2" name="Shape 19">
            <a:extLst>
              <a:ext uri="{FF2B5EF4-FFF2-40B4-BE49-F238E27FC236}">
                <a16:creationId xmlns:a16="http://schemas.microsoft.com/office/drawing/2014/main" id="{B1AA8FC6-1425-600A-CE3A-C84BD0573ECD}"/>
              </a:ext>
            </a:extLst>
          </p:cNvPr>
          <p:cNvSpPr/>
          <p:nvPr/>
        </p:nvSpPr>
        <p:spPr>
          <a:xfrm>
            <a:off x="1508760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3" name="Shape 20">
            <a:extLst>
              <a:ext uri="{FF2B5EF4-FFF2-40B4-BE49-F238E27FC236}">
                <a16:creationId xmlns:a16="http://schemas.microsoft.com/office/drawing/2014/main" id="{7A712E1E-A081-A238-8CE0-37A2D41664FF}"/>
              </a:ext>
            </a:extLst>
          </p:cNvPr>
          <p:cNvSpPr/>
          <p:nvPr/>
        </p:nvSpPr>
        <p:spPr>
          <a:xfrm>
            <a:off x="1709928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4" name="Shape 21">
            <a:extLst>
              <a:ext uri="{FF2B5EF4-FFF2-40B4-BE49-F238E27FC236}">
                <a16:creationId xmlns:a16="http://schemas.microsoft.com/office/drawing/2014/main" id="{BB4C2E7B-99EF-2AF7-05BD-225E19B112F2}"/>
              </a:ext>
            </a:extLst>
          </p:cNvPr>
          <p:cNvSpPr/>
          <p:nvPr/>
        </p:nvSpPr>
        <p:spPr>
          <a:xfrm>
            <a:off x="1911096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5" name="Shape 22">
            <a:extLst>
              <a:ext uri="{FF2B5EF4-FFF2-40B4-BE49-F238E27FC236}">
                <a16:creationId xmlns:a16="http://schemas.microsoft.com/office/drawing/2014/main" id="{9E48C572-EA69-BE85-8934-7342FDA24571}"/>
              </a:ext>
            </a:extLst>
          </p:cNvPr>
          <p:cNvSpPr/>
          <p:nvPr/>
        </p:nvSpPr>
        <p:spPr>
          <a:xfrm>
            <a:off x="2112264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6" name="Shape 23">
            <a:extLst>
              <a:ext uri="{FF2B5EF4-FFF2-40B4-BE49-F238E27FC236}">
                <a16:creationId xmlns:a16="http://schemas.microsoft.com/office/drawing/2014/main" id="{8847DA5C-911A-56FF-8116-E0B73AA8752F}"/>
              </a:ext>
            </a:extLst>
          </p:cNvPr>
          <p:cNvSpPr/>
          <p:nvPr/>
        </p:nvSpPr>
        <p:spPr>
          <a:xfrm>
            <a:off x="2313432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7" name="Shape 24">
            <a:extLst>
              <a:ext uri="{FF2B5EF4-FFF2-40B4-BE49-F238E27FC236}">
                <a16:creationId xmlns:a16="http://schemas.microsoft.com/office/drawing/2014/main" id="{813CCD6B-D5EA-3D03-C476-2CA16F93497B}"/>
              </a:ext>
            </a:extLst>
          </p:cNvPr>
          <p:cNvSpPr/>
          <p:nvPr/>
        </p:nvSpPr>
        <p:spPr>
          <a:xfrm>
            <a:off x="2514600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8" name="Shape 25">
            <a:extLst>
              <a:ext uri="{FF2B5EF4-FFF2-40B4-BE49-F238E27FC236}">
                <a16:creationId xmlns:a16="http://schemas.microsoft.com/office/drawing/2014/main" id="{E5C09CB4-BAF2-267B-DB09-26ACC558BDA2}"/>
              </a:ext>
            </a:extLst>
          </p:cNvPr>
          <p:cNvSpPr/>
          <p:nvPr/>
        </p:nvSpPr>
        <p:spPr>
          <a:xfrm>
            <a:off x="2715768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0A8A2A4F-9686-2873-5A2B-E3F489555B9C}"/>
              </a:ext>
            </a:extLst>
          </p:cNvPr>
          <p:cNvSpPr/>
          <p:nvPr/>
        </p:nvSpPr>
        <p:spPr>
          <a:xfrm>
            <a:off x="438912" y="2931565"/>
            <a:ext cx="2560320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60" name="Text 27">
            <a:extLst>
              <a:ext uri="{FF2B5EF4-FFF2-40B4-BE49-F238E27FC236}">
                <a16:creationId xmlns:a16="http://schemas.microsoft.com/office/drawing/2014/main" id="{686522E0-561B-6BBC-4ACC-73FBC798B13F}"/>
              </a:ext>
            </a:extLst>
          </p:cNvPr>
          <p:cNvSpPr/>
          <p:nvPr/>
        </p:nvSpPr>
        <p:spPr>
          <a:xfrm>
            <a:off x="438912" y="2977285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KV Cache 显存</a:t>
            </a:r>
            <a:endParaRPr lang="en-US" sz="1000" dirty="0"/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A8932163-B2F2-CA69-4551-FD094CFBBB73}"/>
              </a:ext>
            </a:extLst>
          </p:cNvPr>
          <p:cNvSpPr/>
          <p:nvPr/>
        </p:nvSpPr>
        <p:spPr>
          <a:xfrm>
            <a:off x="438912" y="3215029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基准 (1×)</a:t>
            </a:r>
            <a:endParaRPr lang="en-US" sz="1200" dirty="0"/>
          </a:p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BF4FE2B3-E722-CF9C-F44D-434342AE05DF}"/>
              </a:ext>
            </a:extLst>
          </p:cNvPr>
          <p:cNvSpPr/>
          <p:nvPr/>
        </p:nvSpPr>
        <p:spPr>
          <a:xfrm>
            <a:off x="438912" y="3544213"/>
            <a:ext cx="2560320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FE8D4932-A4BF-73EF-011A-DD763131B944}"/>
              </a:ext>
            </a:extLst>
          </p:cNvPr>
          <p:cNvSpPr/>
          <p:nvPr/>
        </p:nvSpPr>
        <p:spPr>
          <a:xfrm>
            <a:off x="438912" y="3580789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代表模型：GPT-2, Bert</a:t>
            </a:r>
            <a:endParaRPr lang="en-US" sz="1000" dirty="0"/>
          </a:p>
        </p:txBody>
      </p:sp>
      <p:sp>
        <p:nvSpPr>
          <p:cNvPr id="64" name="Shape 31">
            <a:extLst>
              <a:ext uri="{FF2B5EF4-FFF2-40B4-BE49-F238E27FC236}">
                <a16:creationId xmlns:a16="http://schemas.microsoft.com/office/drawing/2014/main" id="{DDD8F1C5-EDFB-D3C0-3B26-17EA35C141DC}"/>
              </a:ext>
            </a:extLst>
          </p:cNvPr>
          <p:cNvSpPr/>
          <p:nvPr/>
        </p:nvSpPr>
        <p:spPr>
          <a:xfrm>
            <a:off x="3200400" y="855877"/>
            <a:ext cx="2743200" cy="4133088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65" name="Shape 32">
            <a:extLst>
              <a:ext uri="{FF2B5EF4-FFF2-40B4-BE49-F238E27FC236}">
                <a16:creationId xmlns:a16="http://schemas.microsoft.com/office/drawing/2014/main" id="{5A877A44-1866-7277-3E68-CC0BFE34E03D}"/>
              </a:ext>
            </a:extLst>
          </p:cNvPr>
          <p:cNvSpPr/>
          <p:nvPr/>
        </p:nvSpPr>
        <p:spPr>
          <a:xfrm>
            <a:off x="3200400" y="855877"/>
            <a:ext cx="2743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6" name="Text 33">
            <a:extLst>
              <a:ext uri="{FF2B5EF4-FFF2-40B4-BE49-F238E27FC236}">
                <a16:creationId xmlns:a16="http://schemas.microsoft.com/office/drawing/2014/main" id="{038C5602-EEA0-E246-6FA9-9710E777C7A9}"/>
              </a:ext>
            </a:extLst>
          </p:cNvPr>
          <p:cNvSpPr/>
          <p:nvPr/>
        </p:nvSpPr>
        <p:spPr>
          <a:xfrm>
            <a:off x="3200400" y="85587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MQA</a:t>
            </a:r>
            <a:endParaRPr lang="en-US" sz="1600" dirty="0"/>
          </a:p>
        </p:txBody>
      </p:sp>
      <p:sp>
        <p:nvSpPr>
          <p:cNvPr id="67" name="Text 34">
            <a:extLst>
              <a:ext uri="{FF2B5EF4-FFF2-40B4-BE49-F238E27FC236}">
                <a16:creationId xmlns:a16="http://schemas.microsoft.com/office/drawing/2014/main" id="{A903E53F-BB67-AECB-595A-6B889F7819A9}"/>
              </a:ext>
            </a:extLst>
          </p:cNvPr>
          <p:cNvSpPr/>
          <p:nvPr/>
        </p:nvSpPr>
        <p:spPr>
          <a:xfrm>
            <a:off x="3291840" y="1367941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Multi-Query Attention</a:t>
            </a:r>
            <a:endParaRPr lang="en-US" sz="1000" dirty="0"/>
          </a:p>
        </p:txBody>
      </p:sp>
      <p:sp>
        <p:nvSpPr>
          <p:cNvPr id="68" name="Text 35">
            <a:extLst>
              <a:ext uri="{FF2B5EF4-FFF2-40B4-BE49-F238E27FC236}">
                <a16:creationId xmlns:a16="http://schemas.microsoft.com/office/drawing/2014/main" id="{5F4C536E-CF2A-DF6B-2378-4614CD2DFE43}"/>
              </a:ext>
            </a:extLst>
          </p:cNvPr>
          <p:cNvSpPr/>
          <p:nvPr/>
        </p:nvSpPr>
        <p:spPr>
          <a:xfrm>
            <a:off x="3291840" y="1678837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所有 Q head 共享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同一组 K/V head</a:t>
            </a:r>
            <a:endParaRPr lang="en-US" sz="1100" dirty="0"/>
          </a:p>
        </p:txBody>
      </p:sp>
      <p:sp>
        <p:nvSpPr>
          <p:cNvPr id="69" name="Text 36">
            <a:extLst>
              <a:ext uri="{FF2B5EF4-FFF2-40B4-BE49-F238E27FC236}">
                <a16:creationId xmlns:a16="http://schemas.microsoft.com/office/drawing/2014/main" id="{A9F14FAD-855C-65F6-ED3B-EA186A27964A}"/>
              </a:ext>
            </a:extLst>
          </p:cNvPr>
          <p:cNvSpPr/>
          <p:nvPr/>
        </p:nvSpPr>
        <p:spPr>
          <a:xfrm>
            <a:off x="3291840" y="2355493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Q heads:</a:t>
            </a:r>
            <a:endParaRPr lang="en-US" sz="900" dirty="0"/>
          </a:p>
        </p:txBody>
      </p:sp>
      <p:sp>
        <p:nvSpPr>
          <p:cNvPr id="70" name="Shape 37">
            <a:extLst>
              <a:ext uri="{FF2B5EF4-FFF2-40B4-BE49-F238E27FC236}">
                <a16:creationId xmlns:a16="http://schemas.microsoft.com/office/drawing/2014/main" id="{2253D31A-EC5F-0970-A634-9883D8167A9B}"/>
              </a:ext>
            </a:extLst>
          </p:cNvPr>
          <p:cNvSpPr/>
          <p:nvPr/>
        </p:nvSpPr>
        <p:spPr>
          <a:xfrm>
            <a:off x="4160520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1" name="Shape 38">
            <a:extLst>
              <a:ext uri="{FF2B5EF4-FFF2-40B4-BE49-F238E27FC236}">
                <a16:creationId xmlns:a16="http://schemas.microsoft.com/office/drawing/2014/main" id="{1818CB33-6321-157E-994F-A1E0DFAA1060}"/>
              </a:ext>
            </a:extLst>
          </p:cNvPr>
          <p:cNvSpPr/>
          <p:nvPr/>
        </p:nvSpPr>
        <p:spPr>
          <a:xfrm>
            <a:off x="4361688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2" name="Shape 39">
            <a:extLst>
              <a:ext uri="{FF2B5EF4-FFF2-40B4-BE49-F238E27FC236}">
                <a16:creationId xmlns:a16="http://schemas.microsoft.com/office/drawing/2014/main" id="{1106C442-8304-E9A0-1448-12514F198034}"/>
              </a:ext>
            </a:extLst>
          </p:cNvPr>
          <p:cNvSpPr/>
          <p:nvPr/>
        </p:nvSpPr>
        <p:spPr>
          <a:xfrm>
            <a:off x="4562856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3" name="Shape 40">
            <a:extLst>
              <a:ext uri="{FF2B5EF4-FFF2-40B4-BE49-F238E27FC236}">
                <a16:creationId xmlns:a16="http://schemas.microsoft.com/office/drawing/2014/main" id="{31F6CAC4-2C88-9384-DEB1-E6CAD18D6070}"/>
              </a:ext>
            </a:extLst>
          </p:cNvPr>
          <p:cNvSpPr/>
          <p:nvPr/>
        </p:nvSpPr>
        <p:spPr>
          <a:xfrm>
            <a:off x="4764024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4" name="Shape 41">
            <a:extLst>
              <a:ext uri="{FF2B5EF4-FFF2-40B4-BE49-F238E27FC236}">
                <a16:creationId xmlns:a16="http://schemas.microsoft.com/office/drawing/2014/main" id="{C840CD91-404E-816D-E8A3-4BD3C52F3308}"/>
              </a:ext>
            </a:extLst>
          </p:cNvPr>
          <p:cNvSpPr/>
          <p:nvPr/>
        </p:nvSpPr>
        <p:spPr>
          <a:xfrm>
            <a:off x="4965192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5" name="Shape 42">
            <a:extLst>
              <a:ext uri="{FF2B5EF4-FFF2-40B4-BE49-F238E27FC236}">
                <a16:creationId xmlns:a16="http://schemas.microsoft.com/office/drawing/2014/main" id="{142120E8-D4FC-335C-C6DD-E880FF298E5A}"/>
              </a:ext>
            </a:extLst>
          </p:cNvPr>
          <p:cNvSpPr/>
          <p:nvPr/>
        </p:nvSpPr>
        <p:spPr>
          <a:xfrm>
            <a:off x="5166360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6" name="Shape 43">
            <a:extLst>
              <a:ext uri="{FF2B5EF4-FFF2-40B4-BE49-F238E27FC236}">
                <a16:creationId xmlns:a16="http://schemas.microsoft.com/office/drawing/2014/main" id="{17E6E5DC-3438-A11D-9646-0F3BA1E3CA5C}"/>
              </a:ext>
            </a:extLst>
          </p:cNvPr>
          <p:cNvSpPr/>
          <p:nvPr/>
        </p:nvSpPr>
        <p:spPr>
          <a:xfrm>
            <a:off x="5367528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7" name="Shape 44">
            <a:extLst>
              <a:ext uri="{FF2B5EF4-FFF2-40B4-BE49-F238E27FC236}">
                <a16:creationId xmlns:a16="http://schemas.microsoft.com/office/drawing/2014/main" id="{C53B7E19-FC4B-AE16-8173-707C433BB2FC}"/>
              </a:ext>
            </a:extLst>
          </p:cNvPr>
          <p:cNvSpPr/>
          <p:nvPr/>
        </p:nvSpPr>
        <p:spPr>
          <a:xfrm>
            <a:off x="5568696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8" name="Text 45">
            <a:extLst>
              <a:ext uri="{FF2B5EF4-FFF2-40B4-BE49-F238E27FC236}">
                <a16:creationId xmlns:a16="http://schemas.microsoft.com/office/drawing/2014/main" id="{8DA54DC6-7196-5BFE-B4E9-6B86D98414A9}"/>
              </a:ext>
            </a:extLst>
          </p:cNvPr>
          <p:cNvSpPr/>
          <p:nvPr/>
        </p:nvSpPr>
        <p:spPr>
          <a:xfrm>
            <a:off x="3291840" y="266638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KV heads:</a:t>
            </a:r>
            <a:endParaRPr lang="en-US" sz="900" dirty="0"/>
          </a:p>
        </p:txBody>
      </p:sp>
      <p:sp>
        <p:nvSpPr>
          <p:cNvPr id="79" name="Shape 46">
            <a:extLst>
              <a:ext uri="{FF2B5EF4-FFF2-40B4-BE49-F238E27FC236}">
                <a16:creationId xmlns:a16="http://schemas.microsoft.com/office/drawing/2014/main" id="{BE76FE76-DAF1-8110-B4E3-2E1942251121}"/>
              </a:ext>
            </a:extLst>
          </p:cNvPr>
          <p:cNvSpPr/>
          <p:nvPr/>
        </p:nvSpPr>
        <p:spPr>
          <a:xfrm>
            <a:off x="4864608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80" name="Shape 47">
            <a:extLst>
              <a:ext uri="{FF2B5EF4-FFF2-40B4-BE49-F238E27FC236}">
                <a16:creationId xmlns:a16="http://schemas.microsoft.com/office/drawing/2014/main" id="{4D7E2D7E-0AAA-EB75-5D7A-4604485D3431}"/>
              </a:ext>
            </a:extLst>
          </p:cNvPr>
          <p:cNvSpPr/>
          <p:nvPr/>
        </p:nvSpPr>
        <p:spPr>
          <a:xfrm>
            <a:off x="3291840" y="2931565"/>
            <a:ext cx="2560320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81" name="Text 48">
            <a:extLst>
              <a:ext uri="{FF2B5EF4-FFF2-40B4-BE49-F238E27FC236}">
                <a16:creationId xmlns:a16="http://schemas.microsoft.com/office/drawing/2014/main" id="{C181ED08-09CA-4DC9-EABE-AE5EB1246A68}"/>
              </a:ext>
            </a:extLst>
          </p:cNvPr>
          <p:cNvSpPr/>
          <p:nvPr/>
        </p:nvSpPr>
        <p:spPr>
          <a:xfrm>
            <a:off x="3291840" y="2977285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KV Cache 显存</a:t>
            </a:r>
            <a:endParaRPr lang="en-US" sz="1000" dirty="0"/>
          </a:p>
        </p:txBody>
      </p:sp>
      <p:sp>
        <p:nvSpPr>
          <p:cNvPr id="82" name="Text 49">
            <a:extLst>
              <a:ext uri="{FF2B5EF4-FFF2-40B4-BE49-F238E27FC236}">
                <a16:creationId xmlns:a16="http://schemas.microsoft.com/office/drawing/2014/main" id="{7898CC95-43EB-0490-EFCB-58F0E2ED2138}"/>
              </a:ext>
            </a:extLst>
          </p:cNvPr>
          <p:cNvSpPr/>
          <p:nvPr/>
        </p:nvSpPr>
        <p:spPr>
          <a:xfrm>
            <a:off x="3291840" y="3215029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AB"/>
                </a:solidFill>
              </a:rPr>
              <a:t>约 1/H (8× 减少)</a:t>
            </a:r>
            <a:endParaRPr lang="en-US" sz="1200" dirty="0"/>
          </a:p>
        </p:txBody>
      </p:sp>
      <p:sp>
        <p:nvSpPr>
          <p:cNvPr id="83" name="Shape 50">
            <a:extLst>
              <a:ext uri="{FF2B5EF4-FFF2-40B4-BE49-F238E27FC236}">
                <a16:creationId xmlns:a16="http://schemas.microsoft.com/office/drawing/2014/main" id="{3DEFFBFE-5257-8558-330B-56A5228EC5AF}"/>
              </a:ext>
            </a:extLst>
          </p:cNvPr>
          <p:cNvSpPr/>
          <p:nvPr/>
        </p:nvSpPr>
        <p:spPr>
          <a:xfrm>
            <a:off x="3291840" y="3544213"/>
            <a:ext cx="2560320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84" name="Text 51">
            <a:extLst>
              <a:ext uri="{FF2B5EF4-FFF2-40B4-BE49-F238E27FC236}">
                <a16:creationId xmlns:a16="http://schemas.microsoft.com/office/drawing/2014/main" id="{1B10C10C-8F19-4447-E0ED-CCB27238988C}"/>
              </a:ext>
            </a:extLst>
          </p:cNvPr>
          <p:cNvSpPr/>
          <p:nvPr/>
        </p:nvSpPr>
        <p:spPr>
          <a:xfrm>
            <a:off x="3291840" y="3580789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代表模型：PaLM, Falcon</a:t>
            </a:r>
            <a:endParaRPr lang="en-US" sz="1000" dirty="0"/>
          </a:p>
        </p:txBody>
      </p:sp>
      <p:sp>
        <p:nvSpPr>
          <p:cNvPr id="85" name="Shape 52">
            <a:extLst>
              <a:ext uri="{FF2B5EF4-FFF2-40B4-BE49-F238E27FC236}">
                <a16:creationId xmlns:a16="http://schemas.microsoft.com/office/drawing/2014/main" id="{84705435-01D2-5968-8298-FDA465793530}"/>
              </a:ext>
            </a:extLst>
          </p:cNvPr>
          <p:cNvSpPr/>
          <p:nvPr/>
        </p:nvSpPr>
        <p:spPr>
          <a:xfrm>
            <a:off x="6053328" y="855877"/>
            <a:ext cx="2743200" cy="4133088"/>
          </a:xfrm>
          <a:prstGeom prst="rect">
            <a:avLst/>
          </a:prstGeom>
          <a:solidFill>
            <a:srgbClr val="FFFFFF"/>
          </a:solidFill>
          <a:ln w="19050">
            <a:solidFill>
              <a:srgbClr val="217B45"/>
            </a:solidFill>
            <a:prstDash val="solid"/>
          </a:ln>
        </p:spPr>
      </p:sp>
      <p:sp>
        <p:nvSpPr>
          <p:cNvPr id="86" name="Shape 53">
            <a:extLst>
              <a:ext uri="{FF2B5EF4-FFF2-40B4-BE49-F238E27FC236}">
                <a16:creationId xmlns:a16="http://schemas.microsoft.com/office/drawing/2014/main" id="{65D8B44C-B9C2-8350-4E76-AD3E33694C48}"/>
              </a:ext>
            </a:extLst>
          </p:cNvPr>
          <p:cNvSpPr/>
          <p:nvPr/>
        </p:nvSpPr>
        <p:spPr>
          <a:xfrm>
            <a:off x="6053328" y="855877"/>
            <a:ext cx="2743200" cy="45720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87" name="Text 54">
            <a:extLst>
              <a:ext uri="{FF2B5EF4-FFF2-40B4-BE49-F238E27FC236}">
                <a16:creationId xmlns:a16="http://schemas.microsoft.com/office/drawing/2014/main" id="{09392440-2A8C-C6DD-487A-9E6EC410557C}"/>
              </a:ext>
            </a:extLst>
          </p:cNvPr>
          <p:cNvSpPr/>
          <p:nvPr/>
        </p:nvSpPr>
        <p:spPr>
          <a:xfrm>
            <a:off x="6053328" y="85587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GQA</a:t>
            </a:r>
            <a:endParaRPr lang="en-US" sz="1600" dirty="0"/>
          </a:p>
        </p:txBody>
      </p:sp>
      <p:sp>
        <p:nvSpPr>
          <p:cNvPr id="88" name="Text 55">
            <a:extLst>
              <a:ext uri="{FF2B5EF4-FFF2-40B4-BE49-F238E27FC236}">
                <a16:creationId xmlns:a16="http://schemas.microsoft.com/office/drawing/2014/main" id="{1CDD8EAD-8031-033E-84CA-5075E857B873}"/>
              </a:ext>
            </a:extLst>
          </p:cNvPr>
          <p:cNvSpPr/>
          <p:nvPr/>
        </p:nvSpPr>
        <p:spPr>
          <a:xfrm>
            <a:off x="6144768" y="1367941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</a:rPr>
              <a:t>Grouped-Query Attention</a:t>
            </a:r>
            <a:endParaRPr lang="en-US" sz="1000" dirty="0"/>
          </a:p>
        </p:txBody>
      </p:sp>
      <p:sp>
        <p:nvSpPr>
          <p:cNvPr id="89" name="Text 56">
            <a:extLst>
              <a:ext uri="{FF2B5EF4-FFF2-40B4-BE49-F238E27FC236}">
                <a16:creationId xmlns:a16="http://schemas.microsoft.com/office/drawing/2014/main" id="{47870A8B-151B-2BE2-ADD0-7970596B3089}"/>
              </a:ext>
            </a:extLst>
          </p:cNvPr>
          <p:cNvSpPr/>
          <p:nvPr/>
        </p:nvSpPr>
        <p:spPr>
          <a:xfrm>
            <a:off x="6144768" y="1678837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Q heads 分组，每组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共享一对 K/V head</a:t>
            </a:r>
            <a:endParaRPr lang="en-US" sz="1100" dirty="0"/>
          </a:p>
        </p:txBody>
      </p:sp>
      <p:sp>
        <p:nvSpPr>
          <p:cNvPr id="90" name="Text 57">
            <a:extLst>
              <a:ext uri="{FF2B5EF4-FFF2-40B4-BE49-F238E27FC236}">
                <a16:creationId xmlns:a16="http://schemas.microsoft.com/office/drawing/2014/main" id="{FBC80AD7-7FF7-E428-095D-1EC087BB14ED}"/>
              </a:ext>
            </a:extLst>
          </p:cNvPr>
          <p:cNvSpPr/>
          <p:nvPr/>
        </p:nvSpPr>
        <p:spPr>
          <a:xfrm>
            <a:off x="6144768" y="2355493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Q heads:</a:t>
            </a:r>
            <a:endParaRPr lang="en-US" sz="900" dirty="0"/>
          </a:p>
        </p:txBody>
      </p:sp>
      <p:sp>
        <p:nvSpPr>
          <p:cNvPr id="91" name="Shape 58">
            <a:extLst>
              <a:ext uri="{FF2B5EF4-FFF2-40B4-BE49-F238E27FC236}">
                <a16:creationId xmlns:a16="http://schemas.microsoft.com/office/drawing/2014/main" id="{E5734319-F650-CE13-2198-203DFBAC6D21}"/>
              </a:ext>
            </a:extLst>
          </p:cNvPr>
          <p:cNvSpPr/>
          <p:nvPr/>
        </p:nvSpPr>
        <p:spPr>
          <a:xfrm>
            <a:off x="7013448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2" name="Shape 59">
            <a:extLst>
              <a:ext uri="{FF2B5EF4-FFF2-40B4-BE49-F238E27FC236}">
                <a16:creationId xmlns:a16="http://schemas.microsoft.com/office/drawing/2014/main" id="{C2C50C8A-F1E2-FCDA-0840-08952CABDB45}"/>
              </a:ext>
            </a:extLst>
          </p:cNvPr>
          <p:cNvSpPr/>
          <p:nvPr/>
        </p:nvSpPr>
        <p:spPr>
          <a:xfrm>
            <a:off x="7214616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3" name="Shape 60">
            <a:extLst>
              <a:ext uri="{FF2B5EF4-FFF2-40B4-BE49-F238E27FC236}">
                <a16:creationId xmlns:a16="http://schemas.microsoft.com/office/drawing/2014/main" id="{E34B1469-DCEA-AE2C-61B7-80B09B0F4A9B}"/>
              </a:ext>
            </a:extLst>
          </p:cNvPr>
          <p:cNvSpPr/>
          <p:nvPr/>
        </p:nvSpPr>
        <p:spPr>
          <a:xfrm>
            <a:off x="7415784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4" name="Shape 61">
            <a:extLst>
              <a:ext uri="{FF2B5EF4-FFF2-40B4-BE49-F238E27FC236}">
                <a16:creationId xmlns:a16="http://schemas.microsoft.com/office/drawing/2014/main" id="{66E87D08-17C2-A9F6-CFB8-7403C87D3FA8}"/>
              </a:ext>
            </a:extLst>
          </p:cNvPr>
          <p:cNvSpPr/>
          <p:nvPr/>
        </p:nvSpPr>
        <p:spPr>
          <a:xfrm>
            <a:off x="7616952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5" name="Shape 62">
            <a:extLst>
              <a:ext uri="{FF2B5EF4-FFF2-40B4-BE49-F238E27FC236}">
                <a16:creationId xmlns:a16="http://schemas.microsoft.com/office/drawing/2014/main" id="{43F04171-F733-A06B-08DA-269D7BCBAD91}"/>
              </a:ext>
            </a:extLst>
          </p:cNvPr>
          <p:cNvSpPr/>
          <p:nvPr/>
        </p:nvSpPr>
        <p:spPr>
          <a:xfrm>
            <a:off x="7818120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6" name="Shape 63">
            <a:extLst>
              <a:ext uri="{FF2B5EF4-FFF2-40B4-BE49-F238E27FC236}">
                <a16:creationId xmlns:a16="http://schemas.microsoft.com/office/drawing/2014/main" id="{6AD75643-2F88-6F1D-C629-8B4679D95228}"/>
              </a:ext>
            </a:extLst>
          </p:cNvPr>
          <p:cNvSpPr/>
          <p:nvPr/>
        </p:nvSpPr>
        <p:spPr>
          <a:xfrm>
            <a:off x="8019288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7" name="Shape 64">
            <a:extLst>
              <a:ext uri="{FF2B5EF4-FFF2-40B4-BE49-F238E27FC236}">
                <a16:creationId xmlns:a16="http://schemas.microsoft.com/office/drawing/2014/main" id="{54E60A19-49E2-83E8-2BD2-4B322717AADA}"/>
              </a:ext>
            </a:extLst>
          </p:cNvPr>
          <p:cNvSpPr/>
          <p:nvPr/>
        </p:nvSpPr>
        <p:spPr>
          <a:xfrm>
            <a:off x="8220456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8" name="Shape 65">
            <a:extLst>
              <a:ext uri="{FF2B5EF4-FFF2-40B4-BE49-F238E27FC236}">
                <a16:creationId xmlns:a16="http://schemas.microsoft.com/office/drawing/2014/main" id="{666686D5-74F3-7F8A-07A7-D70F7B009BEE}"/>
              </a:ext>
            </a:extLst>
          </p:cNvPr>
          <p:cNvSpPr/>
          <p:nvPr/>
        </p:nvSpPr>
        <p:spPr>
          <a:xfrm>
            <a:off x="8421624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9" name="Text 66">
            <a:extLst>
              <a:ext uri="{FF2B5EF4-FFF2-40B4-BE49-F238E27FC236}">
                <a16:creationId xmlns:a16="http://schemas.microsoft.com/office/drawing/2014/main" id="{C6ACC2B5-73FB-0E3F-5431-B1B9AE57B697}"/>
              </a:ext>
            </a:extLst>
          </p:cNvPr>
          <p:cNvSpPr/>
          <p:nvPr/>
        </p:nvSpPr>
        <p:spPr>
          <a:xfrm>
            <a:off x="6144768" y="266638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KV heads:</a:t>
            </a:r>
            <a:endParaRPr lang="en-US" sz="900" dirty="0"/>
          </a:p>
        </p:txBody>
      </p:sp>
      <p:sp>
        <p:nvSpPr>
          <p:cNvPr id="100" name="Shape 67">
            <a:extLst>
              <a:ext uri="{FF2B5EF4-FFF2-40B4-BE49-F238E27FC236}">
                <a16:creationId xmlns:a16="http://schemas.microsoft.com/office/drawing/2014/main" id="{AF08644A-E4AE-2EFA-22B8-1D98E7C7822B}"/>
              </a:ext>
            </a:extLst>
          </p:cNvPr>
          <p:cNvSpPr/>
          <p:nvPr/>
        </p:nvSpPr>
        <p:spPr>
          <a:xfrm>
            <a:off x="7616952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01" name="Shape 68">
            <a:extLst>
              <a:ext uri="{FF2B5EF4-FFF2-40B4-BE49-F238E27FC236}">
                <a16:creationId xmlns:a16="http://schemas.microsoft.com/office/drawing/2014/main" id="{26ABC2D6-CFCD-38CC-C585-8192D340DB07}"/>
              </a:ext>
            </a:extLst>
          </p:cNvPr>
          <p:cNvSpPr/>
          <p:nvPr/>
        </p:nvSpPr>
        <p:spPr>
          <a:xfrm>
            <a:off x="7818120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02" name="Shape 69">
            <a:extLst>
              <a:ext uri="{FF2B5EF4-FFF2-40B4-BE49-F238E27FC236}">
                <a16:creationId xmlns:a16="http://schemas.microsoft.com/office/drawing/2014/main" id="{2E573D57-9731-BBC9-D0B6-BA6BFDC04082}"/>
              </a:ext>
            </a:extLst>
          </p:cNvPr>
          <p:cNvSpPr/>
          <p:nvPr/>
        </p:nvSpPr>
        <p:spPr>
          <a:xfrm>
            <a:off x="6144768" y="2931565"/>
            <a:ext cx="2560320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103" name="Text 70">
            <a:extLst>
              <a:ext uri="{FF2B5EF4-FFF2-40B4-BE49-F238E27FC236}">
                <a16:creationId xmlns:a16="http://schemas.microsoft.com/office/drawing/2014/main" id="{E4EE7365-540D-0047-2ED7-72A6269B9C07}"/>
              </a:ext>
            </a:extLst>
          </p:cNvPr>
          <p:cNvSpPr/>
          <p:nvPr/>
        </p:nvSpPr>
        <p:spPr>
          <a:xfrm>
            <a:off x="6144768" y="2977285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KV Cache 显存</a:t>
            </a:r>
            <a:endParaRPr lang="en-US" sz="1000" dirty="0"/>
          </a:p>
        </p:txBody>
      </p:sp>
      <p:sp>
        <p:nvSpPr>
          <p:cNvPr id="104" name="Text 71">
            <a:extLst>
              <a:ext uri="{FF2B5EF4-FFF2-40B4-BE49-F238E27FC236}">
                <a16:creationId xmlns:a16="http://schemas.microsoft.com/office/drawing/2014/main" id="{F2348C16-B082-CB9A-00CE-D654F2C11BB9}"/>
              </a:ext>
            </a:extLst>
          </p:cNvPr>
          <p:cNvSpPr/>
          <p:nvPr/>
        </p:nvSpPr>
        <p:spPr>
          <a:xfrm>
            <a:off x="6144768" y="3215029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7B45"/>
                </a:solidFill>
              </a:rPr>
              <a:t>约 1/G (4× 减少)</a:t>
            </a:r>
            <a:endParaRPr lang="en-US" sz="1200" dirty="0"/>
          </a:p>
        </p:txBody>
      </p:sp>
      <p:sp>
        <p:nvSpPr>
          <p:cNvPr id="105" name="Shape 72">
            <a:extLst>
              <a:ext uri="{FF2B5EF4-FFF2-40B4-BE49-F238E27FC236}">
                <a16:creationId xmlns:a16="http://schemas.microsoft.com/office/drawing/2014/main" id="{EBE8C741-7CFA-D17B-72A7-ADBB900D2A12}"/>
              </a:ext>
            </a:extLst>
          </p:cNvPr>
          <p:cNvSpPr/>
          <p:nvPr/>
        </p:nvSpPr>
        <p:spPr>
          <a:xfrm>
            <a:off x="6144768" y="3544213"/>
            <a:ext cx="2560320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106" name="Text 73">
            <a:extLst>
              <a:ext uri="{FF2B5EF4-FFF2-40B4-BE49-F238E27FC236}">
                <a16:creationId xmlns:a16="http://schemas.microsoft.com/office/drawing/2014/main" id="{A77C427F-4443-94B6-4931-85330E98C4F3}"/>
              </a:ext>
            </a:extLst>
          </p:cNvPr>
          <p:cNvSpPr/>
          <p:nvPr/>
        </p:nvSpPr>
        <p:spPr>
          <a:xfrm>
            <a:off x="6144768" y="3580789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代表模型：Llama-2/3, Mistral</a:t>
            </a:r>
            <a:endParaRPr lang="en-US" sz="1000" dirty="0"/>
          </a:p>
        </p:txBody>
      </p:sp>
      <p:sp>
        <p:nvSpPr>
          <p:cNvPr id="107" name="Shape 74">
            <a:extLst>
              <a:ext uri="{FF2B5EF4-FFF2-40B4-BE49-F238E27FC236}">
                <a16:creationId xmlns:a16="http://schemas.microsoft.com/office/drawing/2014/main" id="{C00CE49A-C8C5-18D8-0079-1FE36F4082BC}"/>
              </a:ext>
            </a:extLst>
          </p:cNvPr>
          <p:cNvSpPr/>
          <p:nvPr/>
        </p:nvSpPr>
        <p:spPr>
          <a:xfrm>
            <a:off x="347472" y="4787797"/>
            <a:ext cx="8449056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08" name="Text 75">
            <a:extLst>
              <a:ext uri="{FF2B5EF4-FFF2-40B4-BE49-F238E27FC236}">
                <a16:creationId xmlns:a16="http://schemas.microsoft.com/office/drawing/2014/main" id="{1F618AD7-3037-B9B1-CFA4-50AA2F3E6E03}"/>
              </a:ext>
            </a:extLst>
          </p:cNvPr>
          <p:cNvSpPr/>
          <p:nvPr/>
        </p:nvSpPr>
        <p:spPr>
          <a:xfrm>
            <a:off x="475488" y="4806085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</a:rPr>
              <a:t>Llama-3 采用 GQA（G=8）：H=32 Q heads，8 KV heads，KV Cache 比 MHA 减少 4×，精度接近 MHA</a:t>
            </a:r>
            <a:endParaRPr lang="en-US" sz="1000" dirty="0"/>
          </a:p>
        </p:txBody>
      </p:sp>
      <p:sp>
        <p:nvSpPr>
          <p:cNvPr id="109" name="Text 1">
            <a:extLst>
              <a:ext uri="{FF2B5EF4-FFF2-40B4-BE49-F238E27FC236}">
                <a16:creationId xmlns:a16="http://schemas.microsoft.com/office/drawing/2014/main" id="{913EB1C2-A34C-7CF4-8845-1FE0A16751AC}"/>
              </a:ext>
            </a:extLst>
          </p:cNvPr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E3A5F"/>
                </a:solidFill>
              </a:rPr>
              <a:t>通过模型结构变化减小</a:t>
            </a:r>
            <a:r>
              <a:rPr lang="en-US" altLang="zh-CN" sz="2600" b="1" dirty="0">
                <a:solidFill>
                  <a:srgbClr val="1E3A5F"/>
                </a:solidFill>
              </a:rPr>
              <a:t>KV</a:t>
            </a:r>
            <a:endParaRPr lang="en-US" sz="2600" dirty="0"/>
          </a:p>
        </p:txBody>
      </p:sp>
      <p:sp>
        <p:nvSpPr>
          <p:cNvPr id="110" name="TextBox 10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3269352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KV Cache 的形状与显存占用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KV Cache 的张量形状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</a:rPr>
              <a:t>[L, 2, B, H, S, D_h]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4069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L：</a:t>
            </a:r>
            <a:r>
              <a:rPr lang="en-US" sz="1100" dirty="0">
                <a:solidFill>
                  <a:srgbClr val="2D2D2D"/>
                </a:solidFill>
              </a:rPr>
              <a:t>Transformer 层数
</a:t>
            </a:r>
            <a:r>
              <a:rPr lang="en-US" sz="1100" b="1" dirty="0">
                <a:solidFill>
                  <a:srgbClr val="2E86AB"/>
                </a:solidFill>
              </a:rPr>
              <a:t>2：</a:t>
            </a:r>
            <a:r>
              <a:rPr lang="en-US" sz="1100" dirty="0">
                <a:solidFill>
                  <a:srgbClr val="2D2D2D"/>
                </a:solidFill>
              </a:rPr>
              <a:t>K 和 V 两个张量
</a:t>
            </a:r>
            <a:r>
              <a:rPr lang="en-US" sz="1100" b="1" dirty="0">
                <a:solidFill>
                  <a:srgbClr val="2E86AB"/>
                </a:solidFill>
              </a:rPr>
              <a:t>B：</a:t>
            </a:r>
            <a:r>
              <a:rPr lang="en-US" sz="1100" dirty="0">
                <a:solidFill>
                  <a:srgbClr val="2D2D2D"/>
                </a:solidFill>
              </a:rPr>
              <a:t>batch size
</a:t>
            </a:r>
            <a:r>
              <a:rPr lang="en-US" sz="1100" b="1" dirty="0">
                <a:solidFill>
                  <a:srgbClr val="2E86AB"/>
                </a:solidFill>
              </a:rPr>
              <a:t>H：</a:t>
            </a:r>
            <a:r>
              <a:rPr lang="en-US" sz="1100" dirty="0">
                <a:solidFill>
                  <a:srgbClr val="2D2D2D"/>
                </a:solidFill>
              </a:rPr>
              <a:t>注意力头数
</a:t>
            </a:r>
            <a:r>
              <a:rPr lang="en-US" sz="1100" b="1" dirty="0">
                <a:solidFill>
                  <a:srgbClr val="2E86AB"/>
                </a:solidFill>
              </a:rPr>
              <a:t>S：</a:t>
            </a:r>
            <a:r>
              <a:rPr lang="en-US" sz="1100" dirty="0">
                <a:solidFill>
                  <a:srgbClr val="2D2D2D"/>
                </a:solidFill>
              </a:rPr>
              <a:t>已生成的序列长度（动态增长）
</a:t>
            </a:r>
            <a:r>
              <a:rPr lang="en-US" sz="1100" b="1" dirty="0">
                <a:solidFill>
                  <a:srgbClr val="2E86AB"/>
                </a:solidFill>
              </a:rPr>
              <a:t>D_h：</a:t>
            </a:r>
            <a:r>
              <a:rPr lang="en-US" sz="1100" dirty="0">
                <a:solidFill>
                  <a:srgbClr val="2D2D2D"/>
                </a:solidFill>
              </a:rPr>
              <a:t>每个头的维度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406908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118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字节数 = 2 · L · B · H · S · D_h · sizeof(dtype)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2062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666"/>
                </a:solidFill>
              </a:rPr>
              <a:t>BF16 时 sizeof = 2 字节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Llama-2-7B 单条 4K 序列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39776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371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层数 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1371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682496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6824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头数 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16824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993392"/>
            <a:ext cx="39776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993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head_dim D_h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19933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304288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3042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seq_len 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23042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615184"/>
            <a:ext cx="39776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6151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batch 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26151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926080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926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dtype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29260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BF16 (2 字节)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383280"/>
            <a:ext cx="3977640" cy="7772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3832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</a:rPr>
              <a:t>2 × 32 × 1 × 32 × 4096 × 128 ×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</a:rPr>
              <a:t>≈ 2.0 GB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00600" y="4297680"/>
            <a:ext cx="397764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343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720A"/>
                </a:solidFill>
              </a:rPr>
              <a:t>对比：</a:t>
            </a:r>
            <a:r>
              <a:rPr lang="en-US" sz="1050" dirty="0">
                <a:solidFill>
                  <a:srgbClr val="2D2D2D"/>
                </a:solidFill>
              </a:rPr>
              <a:t>模型权重 BF16 约 14 GB
</a:t>
            </a:r>
            <a:r>
              <a:rPr lang="en-US" sz="1050" b="1" dirty="0">
                <a:solidFill>
                  <a:srgbClr val="D4720A"/>
                </a:solidFill>
              </a:rPr>
              <a:t>→ batch=8、长度 4K 时 KV Cache (~16GB) 比权重还大</a:t>
            </a:r>
            <a:endParaRPr lang="en-US" sz="1050" dirty="0"/>
          </a:p>
        </p:txBody>
      </p:sp>
      <p:sp>
        <p:nvSpPr>
          <p:cNvPr id="36" name="TextBox 3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代码示意：HuggingFace 中的 past_key_values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朴素：每步重算（伪代码）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069080" cy="1371601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379476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 = tokenizer(prompt)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range(max_new_tokens):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model(tokens)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next_id = sample(out.logits[:, -1])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 = cat([tokens, next_id])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每步把 tokens 整段重算 K,V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67560"/>
            <a:ext cx="406908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90413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启用 KV Cache（HF 标准用法）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311959"/>
            <a:ext cx="4069080" cy="1625801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65576"/>
            <a:ext cx="3794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past = None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 = tokenizer(prompt)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range(max_new_tokens):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model(ids, past_key_values=past,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use_cache=True)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past = out.past_key_values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next_id = sample(out.logits[:, -1])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ids = next_id   # 只送入 1 个 token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三个关键变化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1417320"/>
            <a:ext cx="397764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417320"/>
            <a:ext cx="457200" cy="6858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4173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9240" y="149047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use_cache=True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174650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告诉 forward 把 K、V 存下来并返回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194560"/>
            <a:ext cx="397764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194560"/>
            <a:ext cx="457200" cy="6858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194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26771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past_key_values 透传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52374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把上一步返回的 cache 喂给下一步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971800"/>
            <a:ext cx="397764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971800"/>
            <a:ext cx="457200" cy="6858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9718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9240" y="30449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 只是新 token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330098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不再传整段历史，模型用 cache 拼接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840480"/>
            <a:ext cx="397764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91363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实测性能（Llama-7B, 1×A100）
</a:t>
            </a:r>
            <a:r>
              <a:rPr lang="en-US" sz="1050" b="1" dirty="0">
                <a:solidFill>
                  <a:srgbClr val="2D2D2D"/>
                </a:solidFill>
              </a:rPr>
              <a:t>无 cache：</a:t>
            </a:r>
            <a:r>
              <a:rPr lang="en-US" sz="1050" dirty="0">
                <a:solidFill>
                  <a:srgbClr val="2D2D2D"/>
                </a:solidFill>
              </a:rPr>
              <a:t>约 8 tok/s（n² 增长）
</a:t>
            </a:r>
            <a:r>
              <a:rPr lang="en-US" sz="1050" b="1" dirty="0">
                <a:solidFill>
                  <a:srgbClr val="217B45"/>
                </a:solidFill>
              </a:rPr>
              <a:t>有 cache：</a:t>
            </a:r>
            <a:r>
              <a:rPr lang="en-US" sz="1050" dirty="0">
                <a:solidFill>
                  <a:srgbClr val="2D2D2D"/>
                </a:solidFill>
              </a:rPr>
              <a:t>约 60 tok/s（线性增长）
</a:t>
            </a:r>
            <a:r>
              <a:rPr lang="en-US" sz="1050" b="1" dirty="0">
                <a:solidFill>
                  <a:srgbClr val="217B45"/>
                </a:solidFill>
              </a:rPr>
              <a:t>→ 7~8× 加速，且生成越长差距越大</a:t>
            </a:r>
            <a:endParaRPr lang="en-US" sz="1050" dirty="0"/>
          </a:p>
        </p:txBody>
      </p:sp>
      <p:sp>
        <p:nvSpPr>
          <p:cNvPr id="32" name="TextBox 3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KV Cache 带来的新瓶颈：显存与碎片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</a:rPr>
              <a:t>缓存解决了重复计算，却引入新的工程问题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2788920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1732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MEM  显存吃紧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213055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057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长上下文场景缓存膨胀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277063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动态增长，难以预估峰值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341071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337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batch size 受缓存挤压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72968" y="1417320"/>
            <a:ext cx="2651760" cy="2788920"/>
          </a:xfrm>
          <a:prstGeom prst="rect">
            <a:avLst/>
          </a:prstGeom>
          <a:solidFill>
            <a:srgbClr val="FFF3E0"/>
          </a:solidFill>
          <a:ln w="19050">
            <a:solidFill>
              <a:srgbClr val="D472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2968" y="1417320"/>
            <a:ext cx="2651760" cy="45720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7" name="Text 15"/>
          <p:cNvSpPr/>
          <p:nvPr/>
        </p:nvSpPr>
        <p:spPr>
          <a:xfrm>
            <a:off x="3282696" y="141732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FRAG  内部碎片化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2130552"/>
            <a:ext cx="118872" cy="118872"/>
          </a:xfrm>
          <a:prstGeom prst="ellipse">
            <a:avLst/>
          </a:prstGeom>
          <a:solidFill>
            <a:srgbClr val="D4720A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057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提前按 max_len 预留空间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2770632"/>
            <a:ext cx="118872" cy="118872"/>
          </a:xfrm>
          <a:prstGeom prst="ellipse">
            <a:avLst/>
          </a:prstGeom>
          <a:solidFill>
            <a:srgbClr val="D4720A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实际只用一小部分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3410712"/>
            <a:ext cx="118872" cy="118872"/>
          </a:xfrm>
          <a:prstGeom prst="ellipse">
            <a:avLst/>
          </a:prstGeom>
          <a:solidFill>
            <a:srgbClr val="D4720A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3337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浪费 60%~80% 显存常见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0176" y="1417320"/>
            <a:ext cx="2651760" cy="2788920"/>
          </a:xfrm>
          <a:prstGeom prst="rect">
            <a:avLst/>
          </a:prstGeom>
          <a:solidFill>
            <a:srgbClr val="EBF4F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0176" y="1417320"/>
            <a:ext cx="26517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089904" y="141732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SCH  调度低效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44768" y="2130552"/>
            <a:ext cx="118872" cy="1188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2057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batch 内序列长度差异大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44768" y="2770632"/>
            <a:ext cx="118872" cy="1188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6327648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padding 浪费算力与显存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44768" y="3410712"/>
            <a:ext cx="118872" cy="1188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6327648" y="3337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请求结束后空间难复用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需要更聪明的 KV Cache 内存管理 → 引出 vLLM 的 PagedAttention</a:t>
            </a:r>
            <a:endParaRPr lang="en-US" sz="1400" dirty="0"/>
          </a:p>
        </p:txBody>
      </p:sp>
      <p:sp>
        <p:nvSpPr>
          <p:cNvPr id="35" name="TextBox 3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本节小结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1188720"/>
            <a:ext cx="7726680" cy="54864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188720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自回归 Decode 每步只产 1 个 token，但需要前面所有位置的 K、V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911096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11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1865376"/>
            <a:ext cx="7726680" cy="54864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865376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K、V 只依赖位置自身的 hidden state，可以缓存；Q 必须每步重算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587752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2542032"/>
            <a:ext cx="7726680" cy="54864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542032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KV Cache 把每步 Attention 从 O(n²) 降到 O(n)，加速 5~10×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264408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51560" y="3218688"/>
            <a:ext cx="7726680" cy="54864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218688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形状 [L, 2, B, H, S, D_h]，长上下文时可超过模型权重大小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94106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51560" y="3895344"/>
            <a:ext cx="7726680" cy="54864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895344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缓存带来显存压力与碎片化 → 推动了 vLLM 等工程化方案的诞生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下一节：vLLM 如何把 KV Cache 用到极致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vLLM：把 KV Cache 用到极致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9C4DD"/>
                </a:solidFill>
              </a:rPr>
              <a:t>PagedAttention · Continuous Batching · Prefix Caching · 工程化设计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2293409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vLLM 解决了什么问题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传统推理的显存利用率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69080" cy="384048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142417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实际使用的 KV  35%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069080" cy="384048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2034540" cy="38404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预留但未用 (内部碎片)  50%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4069080" cy="384048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23160"/>
            <a:ext cx="61036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231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请求间空隙 (外部碎片)  15%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0175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某些 batching 模式下，真正服务请求的显存只有 ~20-40%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069080" cy="13716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1188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根因：</a:t>
            </a:r>
            <a:r>
              <a:rPr lang="en-US" sz="1100" dirty="0">
                <a:solidFill>
                  <a:srgbClr val="2D2D2D"/>
                </a:solidFill>
              </a:rPr>
              <a:t>KV Cache 在显存里是连续大块
• 每个序列预先按最大长度申请
• 实际生成长度短得多 → 浪费
• 不同长度并存 → 间隙不可复用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vLLM 的工程化收益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417320"/>
            <a:ext cx="3977640" cy="107899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472184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2~4×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92040" y="19842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吞吐提升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185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同硬件下相对 HF Transformers 的吞吐比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606040"/>
            <a:ext cx="3977640" cy="107899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660904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&lt;4%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892040" y="317296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显存碎片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3741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PagedAttention 把内部浪费压到 4% 以内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3794760"/>
            <a:ext cx="3977640" cy="107899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849624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10×+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892040" y="43616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并发能力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45628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同样显存能容纳更大 batch、更多请求</a:t>
            </a:r>
            <a:endParaRPr lang="en-US" sz="1050" dirty="0"/>
          </a:p>
        </p:txBody>
      </p:sp>
      <p:sp>
        <p:nvSpPr>
          <p:cNvPr id="32" name="TextBox 3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2719904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PagedAttention：把虚拟内存搬进 KV Cache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8183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类比：</a:t>
            </a:r>
            <a:r>
              <a:rPr lang="en-US" sz="1200" dirty="0">
                <a:solidFill>
                  <a:srgbClr val="2D2D2D"/>
                </a:solidFill>
              </a:rPr>
              <a:t>操作系统把进程内存切成固定大小的 page，靠页表映射逻辑→物理。</a:t>
            </a:r>
            <a:r>
              <a:rPr lang="en-US" sz="1200" b="1" dirty="0">
                <a:solidFill>
                  <a:srgbClr val="1E3A5F"/>
                </a:solidFill>
              </a:rPr>
              <a:t> PagedAttention 对 KV Cache 做同样的事。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逻辑视图（一个序列）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1783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物理视图（block 池）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374904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2148840"/>
            <a:ext cx="374904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2148840"/>
            <a:ext cx="374904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00200" y="2148840"/>
            <a:ext cx="374904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2148840"/>
            <a:ext cx="374904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23160" y="2148840"/>
            <a:ext cx="374904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242316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2148840"/>
            <a:ext cx="374904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2148840"/>
            <a:ext cx="374904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0" y="2148840"/>
            <a:ext cx="374904" cy="41148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69080" y="2148840"/>
            <a:ext cx="374904" cy="41148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8" name="Text 26"/>
          <p:cNvSpPr/>
          <p:nvPr/>
        </p:nvSpPr>
        <p:spPr>
          <a:xfrm>
            <a:off x="406908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260604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block 容量 = 4 token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28803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块表 (Block Table)：[ B5, B2, B7 ]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1546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逻辑块 0 → 物理 B5    逻辑块 1 → B2    逻辑块 2 → B7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148840"/>
            <a:ext cx="457200" cy="41148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148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</a:rPr>
              <a:t>B0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2148840"/>
            <a:ext cx="457200" cy="411480"/>
          </a:xfrm>
          <a:prstGeom prst="rect">
            <a:avLst/>
          </a:prstGeom>
          <a:solidFill>
            <a:srgbClr val="666666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2148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15000" y="2148840"/>
            <a:ext cx="457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2148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2148840"/>
            <a:ext cx="457200" cy="41148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2148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</a:rPr>
              <a:t>B3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2697480"/>
            <a:ext cx="457200" cy="411480"/>
          </a:xfrm>
          <a:prstGeom prst="rect">
            <a:avLst/>
          </a:prstGeom>
          <a:solidFill>
            <a:srgbClr val="666666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12080" y="2697480"/>
            <a:ext cx="45720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715000" y="2697480"/>
            <a:ext cx="457200" cy="41148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</a:rPr>
              <a:t>B6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2697480"/>
            <a:ext cx="457200" cy="411480"/>
          </a:xfrm>
          <a:prstGeom prst="rect">
            <a:avLst/>
          </a:prstGeom>
          <a:solidFill>
            <a:srgbClr val="D4720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09160" y="32461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彩色：本序列    灰色：其他序列    白：空闲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3657600"/>
            <a:ext cx="841248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" y="3794760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" y="3794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1440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物理 block 不要求连续 → 显存碎片几乎为零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02920" y="4160520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4160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144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逻辑序列按需追加 block，不再预留 max_len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02920" y="4526280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7" name="Text 55"/>
          <p:cNvSpPr/>
          <p:nvPr/>
        </p:nvSpPr>
        <p:spPr>
          <a:xfrm>
            <a:off x="502920" y="4526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1440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block 可在序列间共享 → 为 Prefix Caching 打基础</a:t>
            </a:r>
            <a:endParaRPr lang="en-US" sz="1150" dirty="0"/>
          </a:p>
        </p:txBody>
      </p:sp>
      <p:sp>
        <p:nvSpPr>
          <p:cNvPr id="59" name="TextBox 5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2008167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PagedAttention 的工程收益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显存利用对比（同样 80GB GPU，3 个并发序列）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朴素：按 max_len 预留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Seq 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1691640"/>
            <a:ext cx="3291840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91640"/>
            <a:ext cx="1975104" cy="38404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6916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Seq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0120" y="2194560"/>
            <a:ext cx="3291840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194560"/>
            <a:ext cx="658368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1945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Seq 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0120" y="2697480"/>
            <a:ext cx="3291840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2697480"/>
            <a:ext cx="2798064" cy="38404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26974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85%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4572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918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总浪费：</a:t>
            </a:r>
            <a:r>
              <a:rPr lang="en-US" sz="1100" dirty="0">
                <a:solidFill>
                  <a:srgbClr val="2D2D2D"/>
                </a:solidFill>
              </a:rPr>
              <a:t>约 45%（彩色之外的 frame 都是预留）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Paged：按需分配 block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691640"/>
            <a:ext cx="246888" cy="246888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92624" y="1691640"/>
            <a:ext cx="246888" cy="246888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76088" y="1691640"/>
            <a:ext cx="246888" cy="246888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59552" y="1691640"/>
            <a:ext cx="246888" cy="246888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43016" y="1691640"/>
            <a:ext cx="246888" cy="246888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691640"/>
            <a:ext cx="246888" cy="246888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9944" y="1691640"/>
            <a:ext cx="246888" cy="24688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93408" y="1691640"/>
            <a:ext cx="246888" cy="24688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984248"/>
            <a:ext cx="246888" cy="246888"/>
          </a:xfrm>
          <a:prstGeom prst="rect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92624" y="1984248"/>
            <a:ext cx="246888" cy="246888"/>
          </a:xfrm>
          <a:prstGeom prst="rect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76088" y="1984248"/>
            <a:ext cx="246888" cy="246888"/>
          </a:xfrm>
          <a:prstGeom prst="rect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59552" y="1984248"/>
            <a:ext cx="246888" cy="246888"/>
          </a:xfrm>
          <a:prstGeom prst="rect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43016" y="1984248"/>
            <a:ext cx="246888" cy="246888"/>
          </a:xfrm>
          <a:prstGeom prst="rect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1984248"/>
            <a:ext cx="246888" cy="246888"/>
          </a:xfrm>
          <a:prstGeom prst="rect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9944" y="1984248"/>
            <a:ext cx="246888" cy="246888"/>
          </a:xfrm>
          <a:prstGeom prst="rect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93408" y="1984248"/>
            <a:ext cx="246888" cy="246888"/>
          </a:xfrm>
          <a:prstGeom prst="rect">
            <a:avLst/>
          </a:prstGeom>
          <a:solidFill>
            <a:srgbClr val="DEDE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414016"/>
            <a:ext cx="164592" cy="164592"/>
          </a:xfrm>
          <a:prstGeom prst="rect">
            <a:avLst/>
          </a:prstGeom>
          <a:solidFill>
            <a:srgbClr val="2E86AB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377440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Seq A 用 6 块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20840" y="2414016"/>
            <a:ext cx="164592" cy="164592"/>
          </a:xfrm>
          <a:prstGeom prst="rect">
            <a:avLst/>
          </a:prstGeom>
          <a:solidFill>
            <a:srgbClr val="1E3A5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2377440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Seq B 用 2 块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2706624"/>
            <a:ext cx="164592" cy="164592"/>
          </a:xfrm>
          <a:prstGeom prst="rect">
            <a:avLst/>
          </a:prstGeom>
          <a:solidFill>
            <a:srgbClr val="D4720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2670048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Seq C 用 7 块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20840" y="2706624"/>
            <a:ext cx="164592" cy="164592"/>
          </a:xfrm>
          <a:prstGeom prst="rect">
            <a:avLst/>
          </a:prstGeom>
          <a:solidFill>
            <a:srgbClr val="DEDED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2670048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空闲 1 块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3291840"/>
            <a:ext cx="40690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2918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总浪费：</a:t>
            </a:r>
            <a:r>
              <a:rPr lang="en-US" sz="1100" dirty="0">
                <a:solidFill>
                  <a:srgbClr val="2D2D2D"/>
                </a:solidFill>
              </a:rPr>
              <a:t>&lt; 4%（仅最后一个 block 部分填充）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更高利用率 → 同样显存容纳更大 batch → 同硬件吞吐 2~4× → 单位 token 成本下降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C4DD"/>
                </a:solidFill>
              </a:rPr>
              <a:t>代价：每次 attention 多一次块表查找；GPU kernel 上做了专门优化，开销可忽略</a:t>
            </a:r>
            <a:endParaRPr lang="en-US" sz="1100" dirty="0"/>
          </a:p>
        </p:txBody>
      </p:sp>
      <p:sp>
        <p:nvSpPr>
          <p:cNvPr id="51" name="TextBox 5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3467306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Continuous Batching：让快的不等慢的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静态 batching：同进同出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R1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1600200"/>
            <a:ext cx="960120" cy="2743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Shape 7"/>
          <p:cNvSpPr/>
          <p:nvPr/>
        </p:nvSpPr>
        <p:spPr>
          <a:xfrm>
            <a:off x="1920240" y="1600200"/>
            <a:ext cx="1600200" cy="274320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R2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2103120"/>
            <a:ext cx="2560320" cy="2743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R3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" y="2606040"/>
            <a:ext cx="1600200" cy="2743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2606040"/>
            <a:ext cx="960120" cy="274320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1546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彩色 = 实际生成    灰色 = 已结束但占着位置等齐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4069080" cy="64008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204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问题：</a:t>
            </a:r>
            <a:r>
              <a:rPr lang="en-US" sz="1100" dirty="0">
                <a:solidFill>
                  <a:srgbClr val="2D2D2D"/>
                </a:solidFill>
              </a:rPr>
              <a:t>短序列结束后必须等长序列
GPU 大量时间在跑"占位计算"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051560"/>
            <a:ext cx="4069080" cy="36576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051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Continuous batching：随到随走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55448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1591056"/>
            <a:ext cx="960120" cy="21945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9202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03520" y="1956816"/>
            <a:ext cx="2560320" cy="21945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2860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2322576"/>
            <a:ext cx="1600200" cy="219456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6517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2688336"/>
            <a:ext cx="1600200" cy="21945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0175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3054096"/>
            <a:ext cx="960120" cy="21945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3832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R4、R5 在 R1、R3 结束的瞬间补位入场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703320"/>
            <a:ext cx="4069080" cy="64008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7490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做法：</a:t>
            </a:r>
            <a:r>
              <a:rPr lang="en-US" sz="1100" dirty="0">
                <a:solidFill>
                  <a:srgbClr val="2D2D2D"/>
                </a:solidFill>
              </a:rPr>
              <a:t>调度器在每个 step 后
踢出已完成 + 加入新请求 → GPU 不停转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PagedAttention 让动态加入/退出零碎片，是 Continuous Batching 的关键支撑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2048350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Prefill 与 Decode：完全不同的两类负载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Continuous Batching 把它们混在同一卡上跑，但它们本质完全不同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38404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Prefill 阶段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069080" cy="41148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830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工作内容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783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处理整段 prompt，一次算 n 个位置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069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402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瓶颈类型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Compute-bound（算力密集）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069080" cy="41148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974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矩阵形状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6974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[n, d] × [d, d] — 大矩阵乘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069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54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GPU 利用率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154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拉满（接近 TFLOPS 峰值）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4069080" cy="41148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118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时延敏感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611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决定 TTFT（首 token 时间）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4069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690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硬件偏好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069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高算力卡：H100、H200、B200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1371600"/>
            <a:ext cx="40690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13716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Decode 阶段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09160" y="1783080"/>
            <a:ext cx="4069080" cy="41148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7830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工作内容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1783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每步只算 1 个新位置 + 读 KV 缓存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240280"/>
            <a:ext cx="4069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2402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瓶颈类型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Memory-bound（访存密集）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697480"/>
            <a:ext cx="4069080" cy="41148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6974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矩阵形状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26974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[1, d] × [d, d] — 退化为向量乘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3154680"/>
            <a:ext cx="4069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154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GPU 利用率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3154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低（卡在 HBM 带宽上）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3611880"/>
            <a:ext cx="4069080" cy="41148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6118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时延敏感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3611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决定 TPOT（每 token 时间）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4069080"/>
            <a:ext cx="4069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40690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硬件偏好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4069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高带宽 + 大显存：A100/H20/MI300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544568"/>
            <a:ext cx="8412480" cy="43891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6966" y="4572000"/>
            <a:ext cx="8269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</a:rPr>
              <a:t>混跑的代价：</a:t>
            </a:r>
            <a:r>
              <a:rPr lang="en-US" sz="1150" dirty="0">
                <a:solidFill>
                  <a:srgbClr val="2D2D2D"/>
                </a:solidFill>
              </a:rPr>
              <a:t>一个长 prompt 的 prefill（几百 ms）会阻塞 batch 内所有 decode → </a:t>
            </a:r>
            <a:r>
              <a:rPr lang="en-US" sz="1150" b="1" dirty="0">
                <a:solidFill>
                  <a:srgbClr val="1E3A5F"/>
                </a:solidFill>
              </a:rPr>
              <a:t>TPOT 抖动；反过来 decode 又让 GPU 算力闲置</a:t>
            </a:r>
            <a:endParaRPr lang="en-US" sz="1150" dirty="0"/>
          </a:p>
        </p:txBody>
      </p:sp>
      <p:sp>
        <p:nvSpPr>
          <p:cNvPr id="48" name="TextBox 4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2009059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PD 分离：把 Prefill 和 Decode 拆到不同节点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既然两阶段需求不同 → 干脆部署到不同实例，KV Cache 通过高速网络传输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097280" cy="6400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用户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请求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417320"/>
            <a:ext cx="2377440" cy="1188720"/>
          </a:xfrm>
          <a:prstGeom prst="rect">
            <a:avLst/>
          </a:prstGeom>
          <a:solidFill>
            <a:srgbClr val="EBF4FA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417320"/>
            <a:ext cx="2377440" cy="2926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4173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Prefill 节点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1783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6AB"/>
                </a:solidFill>
              </a:rPr>
              <a:t>高算力 GPU
</a:t>
            </a:r>
            <a:r>
              <a:rPr lang="en-US" sz="1000" dirty="0">
                <a:solidFill>
                  <a:srgbClr val="2D2D2D"/>
                </a:solidFill>
              </a:rPr>
              <a:t>(H100 / B200)
</a:t>
            </a:r>
            <a:r>
              <a:rPr lang="en-US" sz="1050" dirty="0">
                <a:solidFill>
                  <a:srgbClr val="2D2D2D"/>
                </a:solidFill>
              </a:rPr>
              <a:t>短任务高并发
</a:t>
            </a:r>
            <a:r>
              <a:rPr lang="en-US" sz="1050" b="1" dirty="0">
                <a:solidFill>
                  <a:srgbClr val="2D2D2D"/>
                </a:solidFill>
              </a:rPr>
              <a:t>目标：低 TTFT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2011680"/>
            <a:ext cx="640080" cy="0"/>
          </a:xfrm>
          <a:prstGeom prst="line">
            <a:avLst/>
          </a:prstGeom>
          <a:noFill/>
          <a:ln w="38100">
            <a:solidFill>
              <a:srgbClr val="D4720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160520" y="164592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720A"/>
                </a:solidFill>
              </a:rPr>
              <a:t>KV Cache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60520" y="219456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4720A"/>
                </a:solidFill>
              </a:rPr>
              <a:t>NVLink/RDMA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37760" y="1417320"/>
            <a:ext cx="2377440" cy="1188720"/>
          </a:xfrm>
          <a:prstGeom prst="rect">
            <a:avLst/>
          </a:prstGeom>
          <a:solidFill>
            <a:srgbClr val="EBF4F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417320"/>
            <a:ext cx="23774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4173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Decode 节点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783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</a:rPr>
              <a:t>高带宽 + 大显存
</a:t>
            </a:r>
            <a:r>
              <a:rPr lang="en-US" sz="1000" dirty="0">
                <a:solidFill>
                  <a:srgbClr val="2D2D2D"/>
                </a:solidFill>
              </a:rPr>
              <a:t>(A100 / H20 / MI300)
</a:t>
            </a:r>
            <a:r>
              <a:rPr lang="en-US" sz="1050" dirty="0">
                <a:solidFill>
                  <a:srgbClr val="2D2D2D"/>
                </a:solidFill>
              </a:rPr>
              <a:t>长流式低吞吐
</a:t>
            </a:r>
            <a:r>
              <a:rPr lang="en-US" sz="1050" b="1" dirty="0">
                <a:solidFill>
                  <a:srgbClr val="2D2D2D"/>
                </a:solidFill>
              </a:rPr>
              <a:t>目标：稳定 TPOT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60920" y="2011680"/>
            <a:ext cx="36576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72400" y="1691640"/>
            <a:ext cx="1005840" cy="64008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16916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788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两类节点的硬件取舍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108960"/>
            <a:ext cx="841248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1089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维度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65960" y="3108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Prefill 节点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31089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Decode 节点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401568"/>
            <a:ext cx="84124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015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首要指标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65960" y="34015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FLOPS（算力）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66360" y="340156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HBM 带宽 + 容量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694176"/>
            <a:ext cx="8412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6941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代表硬件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965960" y="36941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H100 SXM, B200, MI300X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66360" y="369417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A100, H20, L40S, MI300A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986784"/>
            <a:ext cx="84124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9867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并行策略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965960" y="39867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TP 重，PP 几乎不用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66360" y="398678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TP 中，PP 可拉长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4279392"/>
            <a:ext cx="8412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2793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扩容方式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965960" y="42793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按 prompt QPS 扩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166360" y="4279392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按生成长度·并发扩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5720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KV Cache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965960" y="45720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产出方（写一次）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166360" y="457200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消费方（读多次）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4864608"/>
            <a:ext cx="8412480" cy="1188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8" name="TextBox 4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1910985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PD 分离：收益、与 Chunked Prefill 的关系、生产现状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收益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777240" cy="68580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7160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解耦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4264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TTFT 与 TPOT 互不干扰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70078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再长的 prompt 也不会卡 decode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0690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48840"/>
            <a:ext cx="777240" cy="68580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14884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硬件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2037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按需选卡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4780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Prefill 配 H100；Decode 可用便宜的高带宽卡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0690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26080"/>
            <a:ext cx="777240" cy="68580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92608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扩容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29809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独立扩缩容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2552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短问长答 → 多扩 decode；反之亦然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0690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03320"/>
            <a:ext cx="777240" cy="68580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03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成本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37581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TCO 下降 30%~50%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4440" y="403250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DistServe / Mooncake 论文实测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和 Chunked Prefill 的关系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0600" y="1371600"/>
            <a:ext cx="397764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41732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4720A"/>
                </a:solidFill>
              </a:rPr>
              <a:t>Chunked Prefill：</a:t>
            </a:r>
            <a:r>
              <a:rPr lang="en-US" sz="1050" dirty="0">
                <a:solidFill>
                  <a:srgbClr val="2D2D2D"/>
                </a:solidFill>
              </a:rPr>
              <a:t>单实例内时间片切分
  把长 prefill 切片，与 decode 交错
</a:t>
            </a:r>
            <a:r>
              <a:rPr lang="en-US" sz="1050" i="1" dirty="0">
                <a:solidFill>
                  <a:srgbClr val="666666"/>
                </a:solidFill>
              </a:rPr>
              <a:t>  轻量、不需新硬件，但 GPU 仍在切换
</a:t>
            </a:r>
            <a:r>
              <a:rPr lang="en-US" sz="1050" b="1" dirty="0">
                <a:solidFill>
                  <a:srgbClr val="2E86AB"/>
                </a:solidFill>
              </a:rPr>
              <a:t>PD 分离：</a:t>
            </a:r>
            <a:r>
              <a:rPr lang="en-US" sz="1050" dirty="0">
                <a:solidFill>
                  <a:srgbClr val="2D2D2D"/>
                </a:solidFill>
              </a:rPr>
              <a:t>跨实例物理分离
  完全消除互相干扰
</a:t>
            </a:r>
            <a:r>
              <a:rPr lang="en-US" sz="1050" i="1" dirty="0">
                <a:solidFill>
                  <a:srgbClr val="666666"/>
                </a:solidFill>
              </a:rPr>
              <a:t>  需高速互联，部署更复杂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9260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生产实现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0600" y="3246120"/>
            <a:ext cx="3977640" cy="329184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2461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DistServe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2461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首篇系统化论文（OSDI'24）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3630168"/>
            <a:ext cx="3977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6301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Mooncake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36301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Kimi 生产系统，KV-centric 架构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4014216"/>
            <a:ext cx="3977640" cy="329184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01421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 v1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401421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原生 disagg prefilling 支持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4398264"/>
            <a:ext cx="3977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3982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SGLang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439826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RadixAttention + PD 分离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818888"/>
            <a:ext cx="8412480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81888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PD 分离 = 把 KV Cache 当成一等公民跨节点流转 — Agent 高并发场景下的下一站</a:t>
            </a:r>
            <a:endParaRPr lang="en-US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1579061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Prefix Caching：共享公共前缀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典型场景：多个请求共享同一段 prompt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Req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5840" y="1463040"/>
            <a:ext cx="2011680" cy="3657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+ few-shot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63240" y="1463040"/>
            <a:ext cx="1371600" cy="36576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总结这段文字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Req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103120"/>
            <a:ext cx="201168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+ few-shot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63240" y="2103120"/>
            <a:ext cx="1371600" cy="36576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翻译成英文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Req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2743200"/>
            <a:ext cx="201168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+ few-shot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63240" y="2743200"/>
            <a:ext cx="1371600" cy="36576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0" name="Text 18"/>
          <p:cNvSpPr/>
          <p:nvPr/>
        </p:nvSpPr>
        <p:spPr>
          <a:xfrm>
            <a:off x="306324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提取关键词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3832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青色：公共前缀（500 tokens）   橙色：各自后缀（20 tokens）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069080" cy="11887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4904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无缓存：</a:t>
            </a:r>
            <a:r>
              <a:rPr lang="en-US" sz="1100" dirty="0">
                <a:solidFill>
                  <a:srgbClr val="2D2D2D"/>
                </a:solidFill>
              </a:rPr>
              <a:t>三个请求各自跑一遍 prefill
→ 同样的 500 tokens 算了 3 次
→ 浪费 1000 tokens 的算力
</a:t>
            </a:r>
            <a:r>
              <a:rPr lang="en-US" sz="1100" b="1" dirty="0">
                <a:solidFill>
                  <a:srgbClr val="C0392B"/>
                </a:solidFill>
              </a:rPr>
              <a:t>在 Agent 多轮、RAG few-shot 中尤其严重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Prefix Caching 的做法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0600" y="1481328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1417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对每个 block 内容算 hash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00600" y="1984248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19202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新请求来时，逐 block 比对 hash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00600" y="2487168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2487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24231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命中的 block 直接复用 KV，不再 prefill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00600" y="2990088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990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2926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未命中处接着算，并把新 block 加入缓存池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00600" y="3520440"/>
            <a:ext cx="3977640" cy="14173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6118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实测加速（共享 1K 前缀）
</a:t>
            </a:r>
            <a:r>
              <a:rPr lang="en-US" sz="1100" b="1" dirty="0">
                <a:solidFill>
                  <a:srgbClr val="2D2D2D"/>
                </a:solidFill>
              </a:rPr>
              <a:t>首请求：</a:t>
            </a:r>
            <a:r>
              <a:rPr lang="en-US" sz="1100" dirty="0">
                <a:solidFill>
                  <a:srgbClr val="2D2D2D"/>
                </a:solidFill>
              </a:rPr>
              <a:t>和无缓存一样
</a:t>
            </a:r>
            <a:r>
              <a:rPr lang="en-US" sz="1100" b="1" dirty="0">
                <a:solidFill>
                  <a:srgbClr val="217B45"/>
                </a:solidFill>
              </a:rPr>
              <a:t>后续请求：</a:t>
            </a:r>
            <a:r>
              <a:rPr lang="en-US" sz="1100" dirty="0">
                <a:solidFill>
                  <a:srgbClr val="2D2D2D"/>
                </a:solidFill>
              </a:rPr>
              <a:t>TTFT 降至 1/5 ~ 1/10
</a:t>
            </a:r>
            <a:r>
              <a:rPr lang="en-US" sz="1100" b="1" dirty="0">
                <a:solidFill>
                  <a:srgbClr val="217B45"/>
                </a:solidFill>
              </a:rPr>
              <a:t>Agent 工具循环 / RAG / 评测：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几乎无成本扩并发</a:t>
            </a:r>
            <a:endParaRPr lang="en-US" sz="1100" dirty="0"/>
          </a:p>
        </p:txBody>
      </p:sp>
      <p:sp>
        <p:nvSpPr>
          <p:cNvPr id="40" name="TextBox 3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1112235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vLLM 的其他实用特性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1051560"/>
          </a:xfrm>
          <a:prstGeom prst="rect">
            <a:avLst/>
          </a:prstGeom>
          <a:solidFill>
            <a:srgbClr val="EBF4FA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868680" cy="10515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TP/PP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1612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张量/流水线并行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单机多卡或多机推理超大模型 (70B、405B)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051560"/>
          </a:xfrm>
          <a:prstGeom prst="rect">
            <a:avLst/>
          </a:prstGeom>
          <a:solidFill>
            <a:srgbClr val="EBF4F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51560"/>
            <a:ext cx="868680" cy="10515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05156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SpecD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1612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Speculative Decoding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1508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小模型起草+大模型验证，2~3× 加速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4069080" cy="1051560"/>
          </a:xfrm>
          <a:prstGeom prst="rect">
            <a:avLst/>
          </a:prstGeom>
          <a:solidFill>
            <a:srgbClr val="EBF4FA"/>
          </a:solidFill>
          <a:ln w="19050">
            <a:solidFill>
              <a:srgbClr val="D472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40280"/>
            <a:ext cx="868680" cy="105156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24028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ChunkP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3500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Chunked Prefill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697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把超长 prompt 切片与 decode 混合调度，降低尾延迟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240280"/>
            <a:ext cx="4069080" cy="1051560"/>
          </a:xfrm>
          <a:prstGeom prst="rect">
            <a:avLst/>
          </a:prstGeom>
          <a:solidFill>
            <a:srgbClr val="EBF4FA"/>
          </a:solidFill>
          <a:ln w="19050">
            <a:solidFill>
              <a:srgbClr val="217B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240280"/>
            <a:ext cx="868680" cy="105156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24028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23500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LoRA 多租户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2697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同一基座模型挂多个 LoRA，按请求路由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429000"/>
            <a:ext cx="4069080" cy="1051560"/>
          </a:xfrm>
          <a:prstGeom prst="rect">
            <a:avLst/>
          </a:prstGeom>
          <a:solidFill>
            <a:srgbClr val="EBF4FA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429000"/>
            <a:ext cx="868680" cy="10515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42900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Quant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35387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量化推理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AWQ / GPTQ / FP8 等多种量化格式开箱即用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429000"/>
            <a:ext cx="4069080" cy="1051560"/>
          </a:xfrm>
          <a:prstGeom prst="rect">
            <a:avLst/>
          </a:prstGeom>
          <a:solidFill>
            <a:srgbClr val="EBF4F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429000"/>
            <a:ext cx="868680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42900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Guide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69280" y="35387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Guided / 约束解码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guided_json / guided_regex / guided_choice（下一节重点）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六个特性各自对一类痛点 — 共同把 vLLM 撑成生产级 LLM 服务平台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1943832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最小可运行示例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方式 A：Python 离线推理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06908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379476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vllm import LLM, SamplingParams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LLM(model="meta-llama/Llama-3-8B")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SamplingParams(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temperature=0.7,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max_tokens=256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= llm.generate(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["介绍一下 KV Cache"],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print(outputs[0].outputs[0].text)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2062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666"/>
                </a:solidFill>
              </a:rPr>
              <a:t>适合：批量评测、离线生成、研究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051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方式 B：OpenAI 兼容服务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06908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90472"/>
            <a:ext cx="379476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启动服务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vllm.entrypoints.openai.api_server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--model meta-llama/Llama-3-8B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客户端 (任意 OpenAI SDK)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openai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= openai.OpenAI(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base_url="http://localhost:8000/v1",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api_key="EMPTY")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cli.chat.completions.create(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model="meta-llama/Llama-3-8B",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messages=[{"role":"user","content":"hi"}])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42062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666"/>
                </a:solidFill>
              </a:rPr>
              <a:t>适合：Agent 调用、生产服务、与现有 OpenAI 客户端兼容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启动一行命令即拥有：PagedAttention + Continuous Batching + Prefix Caching</a:t>
            </a:r>
            <a:endParaRPr 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2737619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vLLM 的设计哲学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1078992"/>
          </a:xfrm>
          <a:prstGeom prst="rect">
            <a:avLst/>
          </a:prstGeom>
          <a:solidFill>
            <a:srgbClr val="EBF4FA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64592" cy="107899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AB"/>
                </a:solidFill>
              </a:rPr>
              <a:t>把显存当一等公民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179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Memory as first-class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7393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不是"算力的副产品"，而是核心调度对象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PagedAttention 把 OS 经验搬到 GPU 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1078992"/>
          </a:xfrm>
          <a:prstGeom prst="rect">
            <a:avLst/>
          </a:prstGeom>
          <a:solidFill>
            <a:srgbClr val="EBF4F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86000"/>
            <a:ext cx="164592" cy="10789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7744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把调度当系统问题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7066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Scheduling as a system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6265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Continuous Batching、抢占式调度、优先级
请求调度独立于模型计算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8412480" cy="1078992"/>
          </a:xfrm>
          <a:prstGeom prst="rect">
            <a:avLst/>
          </a:prstGeom>
          <a:solidFill>
            <a:srgbClr val="EBF4FA"/>
          </a:solidFill>
          <a:ln w="19050">
            <a:solidFill>
              <a:srgbClr val="D472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474720"/>
            <a:ext cx="164592" cy="1078992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720A"/>
                </a:solidFill>
              </a:rPr>
              <a:t>为高并发场景而生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8953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Built for concurrency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15137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Agent 多轮、RAG、评测、API 服务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每个特性都对一类共享/复用模式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下一节：在 vLLM 上启用约束解码 — 让 LLM 输出永远合法</a:t>
            </a:r>
            <a:endParaRPr lang="en-US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4260287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约束性解码：从自由生成到格式可信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9C4DD"/>
                </a:solidFill>
              </a:rPr>
              <a:t>Logits Mask · FSM · 正则 · CFG · JSON Schema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1597174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为什么需要约束性解码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场景：Agent 让 LLM 输出工具调用 JSON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LLM 自由生成的真实样例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06908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2821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{"tool": "search", "query": "</a:t>
            </a:r>
            <a:r>
              <a:rPr lang="en-US" sz="950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天气</a:t>
            </a: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缺少右引号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06908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6829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{"tool": "search", "args" {...}}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62432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丢失冒号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06908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0837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{"tool": serach, "args": {}}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26440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字段名拼错 + 字符串没引号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406908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4845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好的，我来调用搜索工具：{"tool"...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90448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前面带了多余解释文字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两种应对方式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691640"/>
            <a:ext cx="4069080" cy="132588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691640"/>
            <a:ext cx="406908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69164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方案 A：事后修复（脆弱）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202996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用正则补逗号、修引号
• try / except，失败就重试
• prompt 工程："请输出 JSON"
</a:t>
            </a:r>
            <a:r>
              <a:rPr lang="en-US" sz="1100" b="1" dirty="0">
                <a:solidFill>
                  <a:srgbClr val="C0392B"/>
                </a:solidFill>
              </a:rPr>
              <a:t>→ 失败率高、不可控、贵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108960"/>
            <a:ext cx="4069080" cy="150876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108960"/>
            <a:ext cx="4069080" cy="29260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10896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方案 B：约束性解码（根治）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46320" y="3447288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在采样阶段就限制只能选合法 token
• 100% 保证语法正确
• 几乎零额外开销
</a:t>
            </a:r>
            <a:r>
              <a:rPr lang="en-US" sz="1100" b="1" dirty="0">
                <a:solidFill>
                  <a:srgbClr val="217B45"/>
                </a:solidFill>
              </a:rPr>
              <a:t>→ Function Calling、Agent 工具调用、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   结构化输出的工业标准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当下一步任务依赖于 LLM 输出格式，约束解码不是"加分项"，而是"基础设施"</a:t>
            </a:r>
            <a:endParaRPr lang="en-US" sz="1150" dirty="0"/>
          </a:p>
        </p:txBody>
      </p:sp>
      <p:sp>
        <p:nvSpPr>
          <p:cNvPr id="30" name="TextBox 2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2819537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切入点：采样的本质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LLM 每生成一个 token 的过程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280160" cy="7772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hidden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1892808"/>
            <a:ext cx="3657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11680" y="1508760"/>
            <a:ext cx="1280160" cy="7772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2011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shape: [V]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892808"/>
            <a:ext cx="3657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57600" y="1508760"/>
            <a:ext cx="128016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softmax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011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概率分布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1892808"/>
            <a:ext cx="3657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03520" y="1508760"/>
            <a:ext cx="1280160" cy="77724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采样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(top-p, 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1892808"/>
            <a:ext cx="3657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9440" y="1508760"/>
            <a:ext cx="1280160" cy="77724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下一个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token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606040"/>
            <a:ext cx="8412480" cy="548640"/>
          </a:xfrm>
          <a:prstGeom prst="rect">
            <a:avLst/>
          </a:prstGeom>
          <a:solidFill>
            <a:srgbClr val="EBF4FA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51760"/>
            <a:ext cx="8183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关键观察：</a:t>
            </a:r>
            <a:r>
              <a:rPr lang="en-US" sz="1300" dirty="0">
                <a:solidFill>
                  <a:srgbClr val="2D2D2D"/>
                </a:solidFill>
              </a:rPr>
              <a:t>logits → softmax → 概率分布 这一步，</a:t>
            </a:r>
            <a:r>
              <a:rPr lang="en-US" sz="1300" b="1" dirty="0">
                <a:solidFill>
                  <a:srgbClr val="1E3A5F"/>
                </a:solidFill>
              </a:rPr>
              <a:t>概率分布是张完全可以"动手"修改的张量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一个直观的示例：词表大小 = 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原始 logits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36136"/>
            <a:ext cx="411480" cy="39014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"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68680" y="3977640"/>
            <a:ext cx="411480" cy="5486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{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371600" y="4404360"/>
            <a:ext cx="411480" cy="121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1" name="Text 29"/>
          <p:cNvSpPr/>
          <p:nvPr/>
        </p:nvSpPr>
        <p:spPr>
          <a:xfrm>
            <a:off x="132588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}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74520" y="4184904"/>
            <a:ext cx="411480" cy="3413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the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77440" y="4465320"/>
            <a:ext cx="411480" cy="609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5" name="Text 33"/>
          <p:cNvSpPr/>
          <p:nvPr/>
        </p:nvSpPr>
        <p:spPr>
          <a:xfrm>
            <a:off x="233172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&lt;EOS&gt;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9184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Mask 后 logits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0" y="4136136"/>
            <a:ext cx="411480" cy="390144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38" name="Text 36"/>
          <p:cNvSpPr/>
          <p:nvPr/>
        </p:nvSpPr>
        <p:spPr>
          <a:xfrm>
            <a:off x="324612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"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94760" y="3977640"/>
            <a:ext cx="411480" cy="54864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40" name="Text 38"/>
          <p:cNvSpPr/>
          <p:nvPr/>
        </p:nvSpPr>
        <p:spPr>
          <a:xfrm>
            <a:off x="374904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{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297680" y="4404360"/>
            <a:ext cx="411480" cy="12192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42" name="Text 40"/>
          <p:cNvSpPr/>
          <p:nvPr/>
        </p:nvSpPr>
        <p:spPr>
          <a:xfrm>
            <a:off x="425196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}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00600" y="4526280"/>
            <a:ext cx="411480" cy="182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the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303520" y="4526280"/>
            <a:ext cx="411480" cy="182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525780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&lt;EOS&gt;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1792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softmax 概率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4378569"/>
            <a:ext cx="411480" cy="147711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49" name="Text 47"/>
          <p:cNvSpPr/>
          <p:nvPr/>
        </p:nvSpPr>
        <p:spPr>
          <a:xfrm>
            <a:off x="617220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"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720840" y="3977640"/>
            <a:ext cx="411480" cy="54864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51" name="Text 49"/>
          <p:cNvSpPr/>
          <p:nvPr/>
        </p:nvSpPr>
        <p:spPr>
          <a:xfrm>
            <a:off x="667512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{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223760" y="4519246"/>
            <a:ext cx="411480" cy="7034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53" name="Text 51"/>
          <p:cNvSpPr/>
          <p:nvPr/>
        </p:nvSpPr>
        <p:spPr>
          <a:xfrm>
            <a:off x="717804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}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726680" y="4526280"/>
            <a:ext cx="411480" cy="1828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55" name="Text 53"/>
          <p:cNvSpPr/>
          <p:nvPr/>
        </p:nvSpPr>
        <p:spPr>
          <a:xfrm>
            <a:off x="768096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the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229600" y="4526280"/>
            <a:ext cx="411480" cy="1828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57" name="Text 55"/>
          <p:cNvSpPr/>
          <p:nvPr/>
        </p:nvSpPr>
        <p:spPr>
          <a:xfrm>
            <a:off x="818388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&lt;EOS&gt;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D2D2D"/>
                </a:solidFill>
              </a:rPr>
              <a:t>中间：把 "the" 和 &lt;EOS&gt; 的 logit 设为 -∞ → softmax 后概率为 0，永远不会被采到</a:t>
            </a:r>
            <a:endParaRPr lang="en-US" sz="1050" dirty="0"/>
          </a:p>
        </p:txBody>
      </p:sp>
      <p:sp>
        <p:nvSpPr>
          <p:cNvPr id="59" name="TextBox 5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396879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核心机制：Logits Mask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 行实现一个 mask（PyTorch 伪码）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069080" cy="2423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3794760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logits: shape [vocab_size]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 = compute_allowed_tokens(state)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torch.full_like(logits,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float('-inf'))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mask[allowed]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 = logits + mask  # 一行屏蔽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后续 softmax / 采样不变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probs = logits.softmax(-1)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next_id = sample(probs)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931920"/>
            <a:ext cx="4069080" cy="8686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97764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关键点：</a:t>
            </a:r>
            <a:r>
              <a:rPr lang="en-US" sz="1100" dirty="0">
                <a:solidFill>
                  <a:srgbClr val="2D2D2D"/>
                </a:solidFill>
              </a:rPr>
              <a:t>约束解码 = 决定 allowed 集合
采样、温度、top-p 全部保留
概率被压在合法 token 内重新归一化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051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每生成一个 token，要回答的问题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406908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37160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当前所处的解析状态下，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69164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C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下一个 token 集合 allowed = 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1031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6666"/>
                </a:solidFill>
              </a:rPr>
              <a:t>回答这个问题的方式 → 三种主流方案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468880"/>
            <a:ext cx="40690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468880"/>
            <a:ext cx="411480" cy="6858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46888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25420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正则 → DFA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8346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适合手机号、日期、ID 等定长格式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246120"/>
            <a:ext cx="40690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3246120"/>
            <a:ext cx="41148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324612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12080" y="3319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上下文无关文法 (CFG)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6118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适合 JSON、SQL、Python 等嵌套结构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4023360"/>
            <a:ext cx="40690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4023360"/>
            <a:ext cx="411480" cy="68580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402336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12080" y="40965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JSON Schema → 文法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43891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工业最常用：用户描述 schema，框架自动转</a:t>
            </a:r>
            <a:endParaRPr lang="en-US" sz="1050" dirty="0"/>
          </a:p>
        </p:txBody>
      </p:sp>
      <p:sp>
        <p:nvSpPr>
          <p:cNvPr id="31" name="TextBox 3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3700105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用有限状态机 (FSM) 驱动 mask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约束解码的状态视角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rgbClr val="2E86A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起点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63040" y="1965960"/>
            <a:ext cx="8686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1554480"/>
            <a:ext cx="822960" cy="82296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627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31720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已开 {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54680" y="1965960"/>
            <a:ext cx="8686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23360" y="1554480"/>
            <a:ext cx="822960" cy="82296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1627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在 key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1965960"/>
            <a:ext cx="8686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15000" y="1554480"/>
            <a:ext cx="822960" cy="82296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1627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5000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在 value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37960" y="1965960"/>
            <a:ext cx="8686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06640" y="1554480"/>
            <a:ext cx="822960" cy="822960"/>
          </a:xfrm>
          <a:prstGeom prst="ellipse">
            <a:avLst/>
          </a:prstGeom>
          <a:solidFill>
            <a:srgbClr val="217B45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627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结束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371600" y="13258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63240" y="13258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13258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13258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2697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每个状态对应一个 allowed 集合（解码时按状态 mask）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063240"/>
            <a:ext cx="84124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0632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 (起点)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306324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只允许 "{"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374136"/>
            <a:ext cx="8412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37413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(已开 {)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34640" y="3374136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只允许 '"'（开始一个 key）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685032"/>
            <a:ext cx="84124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6850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(在 key)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34640" y="368503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允许任何字符 + ":"（结束 key）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3995928"/>
            <a:ext cx="8412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9959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(在 value)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834640" y="39959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允许任何字符 + "}"（结束 JSON）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306824"/>
            <a:ext cx="84124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3068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 (结束)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34640" y="4306824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只允许 &lt;EOS&gt;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解码每步：模型给 logits → 按当前状态查 allowed → mask → 采样 → 状态前进</a:t>
            </a:r>
            <a:endParaRPr lang="en-US" sz="1150" dirty="0"/>
          </a:p>
        </p:txBody>
      </p:sp>
      <p:sp>
        <p:nvSpPr>
          <p:cNvPr id="47" name="TextBox 4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1439303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方案 A：正则表达式 → DFA → Mask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适合简单线性格式：手机号、日期、UUID、枚举…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步骤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用户提供正则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47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^1[3-9]\d{9}$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40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正则 → DFA（一次性预处理）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在 DFA 每个状态预先算好"该状态下哪些字符合法"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46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解码时按当前 DFA 状态查表，mask 不合法 token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749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703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采样后按字符前进 DFA 状态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3716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DFA 状态片段（手机号匹配）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182880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15000" y="182880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29400" y="182880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43800" y="1828800"/>
            <a:ext cx="640080" cy="640080"/>
          </a:xfrm>
          <a:prstGeom prst="ellipse">
            <a:avLst/>
          </a:prstGeom>
          <a:solidFill>
            <a:srgbClr val="217B45"/>
          </a:solidFill>
          <a:ln/>
        </p:spPr>
      </p:sp>
      <p:sp>
        <p:nvSpPr>
          <p:cNvPr id="32" name="Text 30"/>
          <p:cNvSpPr/>
          <p:nvPr/>
        </p:nvSpPr>
        <p:spPr>
          <a:xfrm>
            <a:off x="75438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S10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40680" y="2148840"/>
            <a:ext cx="27432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394960" y="1600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55080" y="2148840"/>
            <a:ext cx="27432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309360" y="1600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[3-9]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69480" y="2148840"/>
            <a:ext cx="27432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223760" y="1600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[0-9]×8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2743200"/>
            <a:ext cx="397764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78892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 → 只能 "1"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→ 只能 "3"~"9"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→ 只能 "0"~"9"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…直到 S10 → 只能 &lt;EOS&gt;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749040"/>
            <a:ext cx="3977640" cy="105156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794760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17B45"/>
                </a:solidFill>
              </a:rPr>
              <a:t>性能：</a:t>
            </a:r>
            <a:r>
              <a:rPr lang="en-US" sz="1050" dirty="0">
                <a:solidFill>
                  <a:srgbClr val="2D2D2D"/>
                </a:solidFill>
              </a:rPr>
              <a:t>DFA 查询 O(1)
</a:t>
            </a:r>
            <a:r>
              <a:rPr lang="en-US" sz="1050" b="1" dirty="0">
                <a:solidFill>
                  <a:srgbClr val="217B45"/>
                </a:solidFill>
              </a:rPr>
              <a:t>代表实现：</a:t>
            </a:r>
            <a:r>
              <a:rPr lang="en-US" sz="1050" dirty="0">
                <a:solidFill>
                  <a:srgbClr val="2D2D2D"/>
                </a:solidFill>
              </a:rPr>
              <a:t>Outlines (regex), vLLM guided_regex
</a:t>
            </a:r>
            <a:r>
              <a:rPr lang="en-US" sz="1050" b="1" dirty="0">
                <a:solidFill>
                  <a:srgbClr val="217B45"/>
                </a:solidFill>
              </a:rPr>
              <a:t>局限：</a:t>
            </a:r>
            <a:r>
              <a:rPr lang="en-US" sz="1050" dirty="0">
                <a:solidFill>
                  <a:srgbClr val="2D2D2D"/>
                </a:solidFill>
              </a:rPr>
              <a:t>不支持递归/嵌套结构（→ 方案 B）</a:t>
            </a:r>
            <a:endParaRPr lang="en-US" sz="1050" dirty="0"/>
          </a:p>
        </p:txBody>
      </p:sp>
      <p:sp>
        <p:nvSpPr>
          <p:cNvPr id="43" name="TextBox 4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3800243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方案 B：上下文无关文法 (CFG)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正则表达不了嵌套：JSON、SQL、Python 都需要 CFG（栈式状态）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JSON 文法（部分规则）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06908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64792"/>
            <a:ext cx="37947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  ::= object | array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 string | number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 "true" | "false" | "null"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 ::= "{" pair ("," pair)* "}"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 "{}"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    ::= string ":" 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   ::= "[" value ("," value)* "]"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 ::= '"' char* '"'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977640"/>
            <a:ext cx="4069080" cy="822960"/>
          </a:xfrm>
          <a:prstGeom prst="rect">
            <a:avLst/>
          </a:prstGeom>
          <a:solidFill>
            <a:srgbClr val="FFF3CD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02336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720A"/>
                </a:solidFill>
              </a:rPr>
              <a:t>为什么不能用正则：</a:t>
            </a:r>
            <a:r>
              <a:rPr lang="en-US" sz="1100" dirty="0">
                <a:solidFill>
                  <a:srgbClr val="2D2D2D"/>
                </a:solidFill>
              </a:rPr>
              <a:t>object 里嵌 object，array 里嵌 array → 任意深度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4720A"/>
                </a:solidFill>
              </a:rPr>
              <a:t>→ 需要栈来记"开了几层"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716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解码过程（栈式 PDA）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691640"/>
            <a:ext cx="39776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6916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token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40680" y="16916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栈状态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16916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下一步 allowed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984248"/>
            <a:ext cx="39776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9842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40680" y="198424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[obj]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66560" y="19842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string 起 → 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295144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29514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40680" y="229514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[obj, str]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0" y="229514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任意字符 + 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606040"/>
            <a:ext cx="39776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606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40680" y="26060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[obj, str]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0" y="2606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任意字符 + 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916936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9169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0680" y="291693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[obj]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66560" y="29169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只能 :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227832"/>
            <a:ext cx="39776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2278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40680" y="322783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[obj]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66560" y="32278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value 起：{ [ " 数字 t f 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3538728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53872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40680" y="35387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[obj, obj]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66560" y="3538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只能 " 或 }（嵌套层）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3931920"/>
            <a:ext cx="3977640" cy="8686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97764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86AB"/>
                </a:solidFill>
              </a:rPr>
              <a:t>代表实现：</a:t>
            </a:r>
            <a:r>
              <a:rPr lang="en-US" sz="1050" dirty="0">
                <a:solidFill>
                  <a:srgbClr val="2D2D2D"/>
                </a:solidFill>
              </a:rPr>
              <a:t>Outlines (cfg), lm-format-enforcer, xgrammar
</a:t>
            </a:r>
            <a:r>
              <a:rPr lang="en-US" sz="1050" b="1" dirty="0">
                <a:solidFill>
                  <a:srgbClr val="2E86AB"/>
                </a:solidFill>
              </a:rPr>
              <a:t>性能：</a:t>
            </a:r>
            <a:r>
              <a:rPr lang="en-US" sz="1050" dirty="0">
                <a:solidFill>
                  <a:srgbClr val="2D2D2D"/>
                </a:solidFill>
              </a:rPr>
              <a:t>栈操作每步 O(1)~O(规则数)
</a:t>
            </a:r>
            <a:r>
              <a:rPr lang="en-US" sz="1050" b="1" dirty="0">
                <a:solidFill>
                  <a:srgbClr val="1E3A5F"/>
                </a:solidFill>
              </a:rPr>
              <a:t>xgrammar 在 GPU 上做 mask 几乎零开销</a:t>
            </a:r>
            <a:endParaRPr lang="en-US" sz="1050" dirty="0"/>
          </a:p>
        </p:txBody>
      </p:sp>
      <p:sp>
        <p:nvSpPr>
          <p:cNvPr id="43" name="TextBox 4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4187403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方案 C：JSON Schema → 文法 → 解码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工业最常用：写一份 schema，框架自动转文法并强制执行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用户：写一份 JSON Schema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06908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10512"/>
            <a:ext cx="379476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"object",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"tool":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"enum": ["search", "calc"]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"args":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"object",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"properties":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"q": {"type": "string"}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"required": ["q"]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"required": ["tool", "args"]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716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被强制的约束（一项也不会错）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1737360"/>
            <a:ext cx="3977640" cy="45720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737360"/>
            <a:ext cx="100584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7373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字段顺序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1737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按 properties 顺序输出（部分实现可设）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240280"/>
            <a:ext cx="3977640" cy="45720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240280"/>
            <a:ext cx="100584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240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字段名拼写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2240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属性名只能是 schema 中定义的精确字符串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743200"/>
            <a:ext cx="3977640" cy="45720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743200"/>
            <a:ext cx="100584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743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类型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string / number / array / object 严格匹配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246120"/>
            <a:ext cx="3977640" cy="45720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246120"/>
            <a:ext cx="100584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246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枚举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enum 字段只能从给定列表中选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3749040"/>
            <a:ext cx="3977640" cy="45720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749040"/>
            <a:ext cx="100584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必填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97880" y="3749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required 中的字段一定出现，不会漏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4251960"/>
            <a:ext cx="3977640" cy="45720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4251960"/>
            <a:ext cx="100584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4251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嵌套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97880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object 内部递归地按其 schema 约束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4736592"/>
            <a:ext cx="3977640" cy="2468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4736592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vLLM、OpenAI、Outlines、xgrammar 全部支持 schema 直传</a:t>
            </a:r>
            <a:endParaRPr 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1392590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性能与陷阱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性能开销（每步 mask 计算）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方法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57400" y="13716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代价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46120" y="137160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吞吐影响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4069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6420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正则 → DFA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166420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O(1)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664208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几乎无影响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93392"/>
            <a:ext cx="4069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9339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JSON 文法 (CFG)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199339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栈操作 + 表查询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199339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原生 ~5-15% 慢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22576"/>
            <a:ext cx="4069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2257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xgrammar (GPU mask)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57400" y="23225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并行查表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232257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&lt;3% 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651760"/>
            <a:ext cx="4069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5176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lm-format-enforcer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57400" y="26517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计算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2651760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10-30% 慢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08960"/>
            <a:ext cx="4069080" cy="16916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5468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结论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456432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选 GPU 端方案（xgrammar / vLLM 内置）
JSON Schema 路径在生产中开销可忽略
</a:t>
            </a:r>
            <a:r>
              <a:rPr lang="en-US" sz="1100" b="1" dirty="0">
                <a:solidFill>
                  <a:srgbClr val="1E3A5F"/>
                </a:solidFill>
              </a:rPr>
              <a:t>速度损失 ≪ 后处理失败重试的损失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常见陷阱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0600" y="1371600"/>
            <a:ext cx="397764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4173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Tokenizer 与字符级文法不对齐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37760" y="170078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BPE 把 "\"name\"" 分成多 token；mask 必须在 token 边界做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240280"/>
            <a:ext cx="397764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约束太死会牺牲质量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37760" y="256946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强制冷门 token → 概率塌陷到低质内容；要给生成留出选择空间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3108960"/>
            <a:ext cx="397764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1546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枚举顺序影响生成偏好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937760" y="343814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enum: ["yes","no"] 与 ["no","yes"] 命中率会不同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977640"/>
            <a:ext cx="397764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0233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EOS 必须显式允许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37760" y="430682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最终状态忘记 allow EOS → 模型陷入死循环</a:t>
            </a:r>
            <a:endParaRPr 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38046213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vLLM 中的约束解码：guided_*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vLLM SamplingParams 提供的四种约束模式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029968" cy="777240"/>
          </a:xfrm>
          <a:prstGeom prst="rect">
            <a:avLst/>
          </a:prstGeom>
          <a:solidFill>
            <a:srgbClr val="EBF4FA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2029968" cy="2926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7160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guided_choice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0784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从给定字符串列表中选一个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87168" y="1371600"/>
            <a:ext cx="2029968" cy="777240"/>
          </a:xfrm>
          <a:prstGeom prst="rect">
            <a:avLst/>
          </a:prstGeom>
          <a:solidFill>
            <a:srgbClr val="EBF4F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371600"/>
            <a:ext cx="2029968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487168" y="137160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guided_regex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78608" y="1700784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符合给定正则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371600"/>
            <a:ext cx="2029968" cy="777240"/>
          </a:xfrm>
          <a:prstGeom prst="rect">
            <a:avLst/>
          </a:prstGeom>
          <a:solidFill>
            <a:srgbClr val="EBF4FA"/>
          </a:solidFill>
          <a:ln w="19050">
            <a:solidFill>
              <a:srgbClr val="D472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1371600"/>
            <a:ext cx="2029968" cy="29260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6" name="Text 14"/>
          <p:cNvSpPr/>
          <p:nvPr/>
        </p:nvSpPr>
        <p:spPr>
          <a:xfrm>
            <a:off x="4608576" y="137160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guided_json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0016" y="1700784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符合给定 JSON Schema / Pydantic 模型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9984" y="1371600"/>
            <a:ext cx="2029968" cy="777240"/>
          </a:xfrm>
          <a:prstGeom prst="rect">
            <a:avLst/>
          </a:prstGeom>
          <a:solidFill>
            <a:srgbClr val="EBF4FA"/>
          </a:solidFill>
          <a:ln w="19050">
            <a:solidFill>
              <a:srgbClr val="217B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9984" y="1371600"/>
            <a:ext cx="2029968" cy="29260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0" name="Text 18"/>
          <p:cNvSpPr/>
          <p:nvPr/>
        </p:nvSpPr>
        <p:spPr>
          <a:xfrm>
            <a:off x="6729984" y="137160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guided_grammar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21424" y="1700784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符合给定 EBNF 文法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331720"/>
            <a:ext cx="4069080" cy="2926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3317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情感分类：guided_choice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624328"/>
            <a:ext cx="406908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697480"/>
            <a:ext cx="37947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vllm import LLM, SamplingParams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SamplingParams(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guided_decoding=GuidedDecoding(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choice=["positive",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"negative",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"neutral"]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llm.generate("评价：味道很糟", params)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一定从三选一，不会再说别的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331720"/>
            <a:ext cx="4069080" cy="29260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3317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工具调用：guided_json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624328"/>
            <a:ext cx="406908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697480"/>
            <a:ext cx="37947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ToolCall(BaseModel):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tool: Literal["search", "calc"]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query: str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SamplingParams(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guided_decoding=GuidedDecoding(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json=ToolCall.model_json_schema()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输出 100% 可被 ToolCall.parse_raw 解析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864608"/>
            <a:ext cx="8412480" cy="1188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Box 3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42425707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本节小结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1097280"/>
            <a:ext cx="777240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0972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约束解码 = 在采样前给 logits 盖一张"语法掩码"，让概率只落在合法 token 上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09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1664208"/>
            <a:ext cx="777240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66420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三种主流方案：正则/DFA → CFG → JSON Schema，覆盖从枚举到嵌套结构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76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2231136"/>
            <a:ext cx="777240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23113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本质都是"用一个状态机/语法决定每步的 allowed 集合"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43784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5840" y="2798064"/>
            <a:ext cx="777240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2798064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GPU 端实现（xgrammar、vLLM 内置）开销可忽略，是生产标配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10712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10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05840" y="3364992"/>
            <a:ext cx="777240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336499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陷阱：tokenizer 边界、过度约束、忘记 allow EOS、枚举顺序偏好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05840" y="3931920"/>
            <a:ext cx="777240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9319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对 Agent 而言：是工具调用、可靠 JSON、安全护栏的基础设施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1" name="TextBox 3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3230909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3886</Words>
  <Application>Microsoft Office PowerPoint</Application>
  <PresentationFormat>全屏显示(16:9)</PresentationFormat>
  <Paragraphs>873</Paragraphs>
  <Slides>34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梓健 吴</cp:lastModifiedBy>
  <cp:revision>13</cp:revision>
  <dcterms:created xsi:type="dcterms:W3CDTF">2026-06-16T02:38:26Z</dcterms:created>
  <dcterms:modified xsi:type="dcterms:W3CDTF">2026-07-05T12:55:50Z</dcterms:modified>
</cp:coreProperties>
</file>