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为什么需要 Tokenizer？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文本切分的基本问题  ·  三种粒度对比  ·  UNK 困境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第一部分  ·  为什么需要 Tokenizer？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从文字到数字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模型只能处理数字，文本必须先经过 Tokenizer 转化为 Token ID 序列。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777240"/>
          </a:xfrm>
          <a:prstGeom prst="rect">
            <a:avLst>
              <a:gd name="adj" fmla="val 9412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原始文本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"Hello, world!"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92808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75688" y="1417320"/>
            <a:ext cx="1554480" cy="777240"/>
          </a:xfrm>
          <a:prstGeom prst="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Tokenizer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75688" y="1801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切分 + 编码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48456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31336" y="1417320"/>
            <a:ext cx="1554480" cy="777240"/>
          </a:xfrm>
          <a:prstGeom prst="rect">
            <a:avLst>
              <a:gd name="adj" fmla="val 9412"/>
            </a:avLst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1336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IDs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31336" y="1801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[15496, 995, 0]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04104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86984" y="1417320"/>
            <a:ext cx="1554480" cy="777240"/>
          </a:xfrm>
          <a:prstGeom prst="rect">
            <a:avLst>
              <a:gd name="adj" fmla="val 9412"/>
            </a:avLst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6984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86984" y="1801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向量查表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5975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42632" y="1417320"/>
            <a:ext cx="1554480" cy="777240"/>
          </a:xfrm>
          <a:prstGeom prst="rect">
            <a:avLst>
              <a:gd name="adj" fmla="val 941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632" y="1444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语言模型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42632" y="1801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Transformer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4114800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4780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为什么不直接用字符？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27523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序列过长，英文 100 词约 500+ 字符，计算代价极高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423160"/>
            <a:ext cx="4114800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4780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为什么不直接用单词？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3168" y="27523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词表爆炸（数十万词），未登录词 UNK 问题严重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337560"/>
            <a:ext cx="4114800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3924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子词是折中方案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36667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词表大小可控（30k~100k），覆盖率高，保留语义信息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337560"/>
            <a:ext cx="4114800" cy="74980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3924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Tokenizer 影响模型能力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366674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分词质量直接影响困惑度和下游任务效果</a:t>
            </a:r>
            <a:endParaRPr 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第一部分  ·  为什么需要 Tokenizer？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三种切分粒度对比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示例词汇："unhappiness"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697480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988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字符级（Character）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269748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n h a p p i n e s 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2677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6AB"/>
                </a:solidFill>
              </a:rPr>
              <a:t>11 tokens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7B45"/>
                </a:solidFill>
              </a:rPr>
              <a:t>优势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词表极小（约 100）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无 UNK 问题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劣势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序列极长，训练慢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14223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字符本身无语义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389888"/>
            <a:ext cx="269748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38988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词级（Word）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847088"/>
            <a:ext cx="269748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874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unhappiness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2677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1 token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7B45"/>
                </a:solidFill>
              </a:rPr>
              <a:t>优势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283464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单元有完整语义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31638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序列最短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劣势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8221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词表巨大（50 万+）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414223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新词 -&gt; UNK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389888"/>
            <a:ext cx="2697480" cy="42062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38988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子词级（Subword）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1847088"/>
            <a:ext cx="269748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8745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 |  happiness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2677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7B45"/>
                </a:solidFill>
              </a:rPr>
              <a:t>2 tokens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2542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7B45"/>
                </a:solidFill>
              </a:rPr>
              <a:t>优势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283464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词表适中（30k~100k）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31638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覆盖率高，稀有词可拆分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劣势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8221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需要训练词表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414223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• 多语种公平性有挑战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现代 LLM 均采用子词级分词，在词表大小、序列长度、覆盖率之间取得最佳平衡。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第一部分  ·  为什么需要 Tokenizer？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UNK 问题的本质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词级分词的困境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拼写错误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76272" y="147218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"recieve" → [UNK]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训练集中从未出现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1148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219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专有名词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76272" y="222199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"ChatGPT" → [UNK]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新产品、人名地名层出不穷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41148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形态变化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29718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"unhappiest" → [UNK]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2644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词根词缀组合数量庞大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66744"/>
            <a:ext cx="411480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21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多语言混合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76272" y="372160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"cafe" → [UNK]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142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特殊字符或非英语词汇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241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UNK 的危害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46304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1417320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信息损失：未登录词共享同一向量，语义混淆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37760" y="2267712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2221992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训练困难：UNK 梯度无法回传到具体词汇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37760" y="3072384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026664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生成错误：解码时 UNK 出现破坏文本连贯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37760" y="387705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831336"/>
            <a:ext cx="3401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语言不公平：低资源语言 UNK 率远高英语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690872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目标：构建分词方案，使得任意文本均可表示，无需 UNK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第一部分  ·  为什么需要 Tokenizer？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理想 Tokenizer 的三个目标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4937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247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161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零 UNK 覆盖率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23957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任意输入文本均可被无损表示，不出现 [UNK] 标记。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这要求词表在底层具备完备性——字节级方案是最彻底的实现路径。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4937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247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22192" y="1161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高压缩率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00784"/>
            <a:ext cx="23957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相同语义内容用尽可能少的 token 表达。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token 数越少，上下文利用率越高，推理越快，长文本支持越好。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097280"/>
            <a:ext cx="2651760" cy="49377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247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02552" y="1161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多语言公平性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700784"/>
            <a:ext cx="239572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各语言的 token fertility（词/token 比）应均衡。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不应让英语 1 token 对应一个词，其他语言却需 4~6 个 token。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931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接下来：BPE -&gt; BBPE -&gt; WordPiece -&gt; SentencePiece，逐步看各方案如何满足这三个目标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BPE：字节对编码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算法起源与流程  ·  词表构建演示  ·  减少 UNK 的原理  ·  GPT-2 实践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BPE 的起源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从数据压缩到 NLP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7772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1994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BPE 由 Philip Gage 提出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用于无损数据压缩，核心思想：反复合并最高频字节对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4380" y="1828800"/>
            <a:ext cx="0" cy="384048"/>
          </a:xfrm>
          <a:prstGeom prst="line">
            <a:avLst/>
          </a:prstGeom>
          <a:noFill/>
          <a:ln w="12700">
            <a:solidFill>
              <a:srgbClr val="2E86A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5760" y="2221992"/>
            <a:ext cx="7772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219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Sennrich 等引入 NLP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论文《Neural Machine Translation of Rare Words with Subword Units》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" y="2606040"/>
            <a:ext cx="0" cy="384048"/>
          </a:xfrm>
          <a:prstGeom prst="line">
            <a:avLst/>
          </a:prstGeom>
          <a:noFill/>
          <a:ln w="12700">
            <a:solidFill>
              <a:srgbClr val="2E86A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2999232"/>
            <a:ext cx="7772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992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GPT / GPT-2 采用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218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OpenAI 使用 BPE 构建 40k/50k 词表，成为主流方案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" y="3383280"/>
            <a:ext cx="0" cy="384048"/>
          </a:xfrm>
          <a:prstGeom prst="line">
            <a:avLst/>
          </a:prstGeom>
          <a:noFill/>
          <a:ln w="12700">
            <a:solidFill>
              <a:srgbClr val="2E86A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65760" y="3776472"/>
            <a:ext cx="7772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764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2020+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37764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几乎所有大模型沿用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LLaMA / Qwen / Gemma 等均基于 BPE 或其变体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241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压缩思想迁移到分词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4264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数据压缩中的 BPE：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170078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将最频繁出现的字节对替换为新符号，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减少数据体积。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2286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NLP 中的迁移：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2560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将最频繁出现的字符对合并为子词单元，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扩大词表覆盖范围。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3145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核心洞察：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41985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高频共现的字符序列往往携带语义信息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（如 ing / un / tion 等词缀）。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599432"/>
            <a:ext cx="8193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BPE = 用频次驱动的贪心合并，从字符出发逐步构建子词词表</a:t>
            </a:r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BPE 算法步骤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042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初始化词表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316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将语料中每个词拆成字符序列，末尾加 &lt;/w&gt;（词尾标记）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收集所有字符作为初始词表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1956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统计频次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311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遍历语料，统计所有相邻符号对（bigram）的出现次数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3840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871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合并最高频对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1455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找出频次最高的符号对 (a, b)，将所有 a b 合并为 ab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将 ab 加入词表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38404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迭代直到目标词表大小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599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重复步骤 2-3，每次迭代合并一个新子词单元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通常执行 10k~40k 次合并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987552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伪码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371600"/>
            <a:ext cx="397764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46304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char_split(corpus)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 = []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range(num_merges):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pairs = count_pairs(vocab)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 = max(pairs, key=pairs.get)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vocab = merge_pair(vocab, best)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merges.append(best)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merges in order on new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291840"/>
            <a:ext cx="3977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364992"/>
            <a:ext cx="3758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合并规则按学习顺序应用：先合并的规则优先级更高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关键参数：num_merges（合并次数）= 词表大小 - 初始字符数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词表构建演示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语料："low low low low low lower lower newest newest widest"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691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合并轮次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最高频对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37160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合并后新单元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060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词表变化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556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初始状态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17556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7556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17556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7556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75564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7556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l, o, w, e, r, n ...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16916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28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第 1 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22128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22128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(e, 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06240" y="22128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22128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212848"/>
            <a:ext cx="26060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2128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es 加入词表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67004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6700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第 2 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26700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26700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(es, 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06240" y="26700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6700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267004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6700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est 加入词表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3127248"/>
            <a:ext cx="16916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1272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第 3 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94560" y="31272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67712" y="31272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(lo, w)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0" y="31272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31272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3127248"/>
            <a:ext cx="26060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1272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low 加入词表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358444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5844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第 4 次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94560" y="35844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67712" y="35844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(low, &lt;/w&gt;)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06240" y="3584448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9392" y="35844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low&lt;/w&gt;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3584448"/>
            <a:ext cx="2606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35844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low&lt;/w&gt; 加入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041648"/>
            <a:ext cx="16916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041648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第 5 次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194560" y="40416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67712" y="40416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e)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206240" y="4041648"/>
            <a:ext cx="182880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404164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0" y="4041648"/>
            <a:ext cx="26060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91072" y="4041648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ne 加入词表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经过 N 次合并后，原本未登录的词可被拆为已知子词：widest -&gt; wide + st（而非 UNK）</a:t>
            </a:r>
            <a:endParaRPr lang="en-US" sz="1100" dirty="0"/>
          </a:p>
        </p:txBody>
      </p:sp>
      <p:sp>
        <p:nvSpPr>
          <p:cNvPr id="64" name="TextBox 6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BPE 如何减少 UNK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新词拆解示例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01952" y="14356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12848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| ization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常见子词组合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1148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01952" y="22585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| G | PT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6151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部分子词已知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41148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81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unhappiest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01952" y="30815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12848" y="3081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| happi | 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词缀均已知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58768"/>
            <a:ext cx="411480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04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xyzabc123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01952" y="3904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-&gt;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12848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xy | z | ab | c1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261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字符级退化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UNK 率对比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66666"/>
                </a:solidFill>
              </a:rPr>
              <a:t>新闻语料 OOV 率（估算）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词级（50k）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1728216"/>
            <a:ext cx="2286000" cy="20116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728216"/>
            <a:ext cx="164592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17007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3.2%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BPE 30k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386584"/>
            <a:ext cx="2286000" cy="20116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386584"/>
            <a:ext cx="205740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9964" y="2359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0.04%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BPE 50k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044952"/>
            <a:ext cx="2286000" cy="201168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3044952"/>
            <a:ext cx="45720" cy="2011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7B45"/>
                </a:solidFill>
              </a:rPr>
              <a:t>0.01%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7947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词级分词约 3% OOV（百万词量规模），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BPE 可将其降至 &lt;0.05%，几乎消灭 UNK。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BPE 的兜底：任意词在最坏情况下被拆回单个字符，词表仍能覆盖</a:t>
            </a:r>
            <a:endParaRPr 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BPE 的局限性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74320" cy="117043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24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20A"/>
                </a:solidFill>
              </a:rPr>
              <a:t>贪心合并，非全局最优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356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每次只选频次最高的一对，可能错过更优的子词边界。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同一个词在不同上下文可能被切分为不同子词。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1252728"/>
            <a:ext cx="28346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44168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→ low+er  OR  lo+wer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13432"/>
            <a:ext cx="27432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865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跨语言词表不均衡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在英语语料上训练的 BPE，中文/日文等非拉丁语系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需要更多 token 表达相同信息（fertility 问题）。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77840" y="2514600"/>
            <a:ext cx="28346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60604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"nihao" → [ni, ha, o]  # 3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75304"/>
            <a:ext cx="274320" cy="11704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48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7B45"/>
                </a:solidFill>
              </a:rPr>
              <a:t>仍有极少量 UNK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9593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字符级 BPE 依赖字符集，如果训练语料缺少某些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Unicode 字符，仍会出现 UNK。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7840" y="3776472"/>
            <a:ext cx="28346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86791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"rare_char" → [UNK]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解决方案：BBPE（字节级 BPE）从根源消灭 UNK——下一部分介绍</a:t>
            </a:r>
            <a:endParaRPr 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第二部分  ·  BPE：字节对编码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GPT-2 中的 BPE 实践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GPT-2 Tokenizer 设计决策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11480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词表大小：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50,257（含 256 字节 + BPE 合并 + &lt;|endoftext|&gt;）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574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初始词表：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所有 UTF-8 字节（256 个），确保任意文本均可编码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11480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空格处理：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将空格归入后续词（如 ' hello' 不同于 'hello'）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009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标点规则：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标点单独成词，不与前后字符合并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411480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227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合并次数：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151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约 50,000 次合并迭代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实际效果示例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389888"/>
            <a:ext cx="397764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481328"/>
            <a:ext cx="3703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tiktoken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tiktoken.get_encoding("gpt2")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'Hello, world!'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enc.encode("Hello, world!")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[15496, 11, 995, 0]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tokens for 3 words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enc.encode("tokenization")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[30001, 1634, 341]  # 3 tokens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502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压缩率对比（英文）：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38221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字符级：~4.5 chars/token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114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7B45"/>
                </a:solidFill>
              </a:rPr>
              <a:t>GPT-2 BPE：~4.0 chars/token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44074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86AB"/>
                </a:solidFill>
              </a:rPr>
              <a:t>GPT-4 BPE：~4.5 chars/token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BBPE：字节级 BPE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字节作为原子单元  ·  零 UNK 保证  ·  多语言支持原理  ·  BBPE 的代价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第三部分  ·  BBPE：字节级 BPE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从字符到字节：为什么需要 BBPE？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字符级 BPE 的根本问题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5389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472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Unicode 覆盖不完全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764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Unicode 有 140,000+ 字符，任何训练语料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都不可能覆盖全部，边缘字符仍出现 UNK。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词表大小爆炸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7706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多语言模型若要覆盖所有脚本的字符，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初始字符词表可达数千，难以管理。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新表情 / 特殊符号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3776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新 emoji、数学符号、古文字等在训练时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不存在，部署后遇到即产生 UNK。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字节级的根本解法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39776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490472"/>
            <a:ext cx="3758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任何文本 = UTF-8 字节序列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256 个字节值覆盖所有可能输入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17627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66666"/>
                </a:solidFill>
              </a:rPr>
              <a:t>UTF-8 编码示意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50592"/>
            <a:ext cx="3977640" cy="12984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42032"/>
            <a:ext cx="3703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'A'  → 0x41        (1 byte)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'e'  → 0xC3 0xA9   (2 bytes)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'中' → 0xE4 0xB8 0xAD  (3B)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emoji → 0xF0...    (4 bytes)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text: 256 byte values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84048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BBPE 将这 256 个字节作为初始词表，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之后的 BPE 合并步骤与原版完全相同。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第三部分  ·  BBPE：字节级 BPE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BBPE 核心思路：256 字节作为初始词表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BPE vs BBPE 对比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286000" cy="3657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对比维度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89888"/>
            <a:ext cx="269748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3898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BPE（字符级）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389888"/>
            <a:ext cx="3108960" cy="3657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BBPE（字节级）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2286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922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初始词表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792224"/>
            <a:ext cx="2697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7922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所有字符（语言相关）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23560" y="1792224"/>
            <a:ext cx="3108960" cy="457200"/>
          </a:xfrm>
          <a:prstGeom prst="rect">
            <a:avLst/>
          </a:prstGeom>
          <a:solidFill>
            <a:srgbClr val="F0FAF4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7922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256 字节值（语言无关）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覆盖范围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88920" y="2286000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2860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训练语料中出现的字符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2286000"/>
            <a:ext cx="3108960" cy="457200"/>
          </a:xfrm>
          <a:prstGeom prst="rect">
            <a:avLst/>
          </a:prstGeom>
          <a:solidFill>
            <a:srgbClr val="F0FAF4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所有 UTF-8 文本（无例外）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779776"/>
            <a:ext cx="2286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797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UNK 风险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2779776"/>
            <a:ext cx="2697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7797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有（罕见字符/新符号）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2779776"/>
            <a:ext cx="3108960" cy="457200"/>
          </a:xfrm>
          <a:prstGeom prst="rect">
            <a:avLst/>
          </a:prstGeom>
          <a:solidFill>
            <a:srgbClr val="F0FAF4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7797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零 UNK（理论保证）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初始词表大小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8920" y="3273552"/>
            <a:ext cx="2697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2735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数十到数百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23560" y="3273552"/>
            <a:ext cx="3108960" cy="457200"/>
          </a:xfrm>
          <a:prstGeom prst="rect">
            <a:avLst/>
          </a:prstGeom>
          <a:solidFill>
            <a:srgbClr val="F0FAF4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2735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恒定 256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767328"/>
            <a:ext cx="2286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67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多语言支持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767328"/>
            <a:ext cx="2697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376732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需要语言特定字符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23560" y="3767328"/>
            <a:ext cx="3108960" cy="457200"/>
          </a:xfrm>
          <a:prstGeom prst="rect">
            <a:avLst/>
          </a:prstGeom>
          <a:solidFill>
            <a:srgbClr val="F0FAF4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统一字节空间，天然支持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425696"/>
            <a:ext cx="8193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BBPE 是 BPE 的最小改动版本：只替换初始词表，算法本身不变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第三部分  ·  BBPE：字节级 BPE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多语言支持原理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同一字节空间统一不同语言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无论文字属于哪种语言，BBPE 均通过相同的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256 字节值域进行表示，无需分别处理。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40690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93392"/>
            <a:ext cx="86868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9339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English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20299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 65 6C 6C 6F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042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(5 bytes)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0690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868680" cy="56692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51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Chinese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6883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你好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 BD A0 E5 A5 BD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9626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(6 bytes)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310128"/>
            <a:ext cx="40690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10128"/>
            <a:ext cx="868680" cy="56692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Arabic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346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مرحبا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346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D9 85 D8 B1 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(10 bytes)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68496"/>
            <a:ext cx="40690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68496"/>
            <a:ext cx="8686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6849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Emoji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40050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F0 9F 91 4B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(4 bytes)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BPE 合并后的跨语言共享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1389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高频字节序列在多种语言中共享合并规则：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737360"/>
            <a:ext cx="39776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 A9 → e(accent)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法语、西班牙语重音字母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560320"/>
            <a:ext cx="39776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6151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 B8 → 东亚字符前缀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汉字、日文共享字节前缀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383280"/>
            <a:ext cx="39776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→ 空格(0x20)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9472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所有使用空格的语言共享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4700016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BBPE 的合并规则天然跨语言共享——同一字节序列无论属于哪种语言均适用</a:t>
            </a:r>
            <a:endParaRPr lang="en-US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第三部分  ·  BBPE：字节级 BPE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BBPE 与 BPE 的算法差异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AB"/>
                </a:solidFill>
              </a:rPr>
              <a:t>BPE 流程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69080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947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0: 初始化（字符级）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{'l','o','w','e','r',...}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统计字符对频次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count_pairs(vocab)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合并最高频对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max(pairs, key=pairs.get)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merge(vocab, best)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3611880"/>
            <a:ext cx="201168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611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初始词表依赖语言字符集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7B45"/>
                </a:solidFill>
              </a:rPr>
              <a:t>BBPE 流程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3977640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703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0: 初始化（字节级）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{0x00, 0x01, ..., 0xFF}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256 个字节，语言无关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1-2: 完全相同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count_pairs(vocab)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max(pairs, key=pairs.get)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merge(vocab, best)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611880"/>
            <a:ext cx="2011680" cy="3108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611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256 字节，语言无关，零 UNK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274320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142232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BBPE = BPE with byte vocabulary  ·  仅 Step 0 不同，其余完全一致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GPT-2 / LLaMA / Qwen 均使用 BBPE 或其改进版，词表基础为字节级。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第三部分  ·  BBPE：字节级 BPE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BBPE 的代价与权衡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零 UNK 的代价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序列变长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字节级初始表示比字符级更细粒度，即使相同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文本也需要更多 token（低资源语言尤其明显）。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"中" → 3 bytes → 最终可能 1~2 tokens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低资源语言 fertility 偏高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788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训练数据以英文为主时，中文/阿拉伯文的字节序列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合并次数少，每个词对应更多 tokens。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英文约 1.3 char/token，中文约 2~3 bytes/token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40690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387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学习成本上升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模型需要从字节序列中自行学习字符边界，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对语言结构的理解依赖更多训练数据。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788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LLaMA-1 vs Qwen: 中文 token 效率相差 3x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7B45"/>
                </a:solidFill>
              </a:rPr>
              <a:t>缓解策略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426464"/>
            <a:ext cx="3977640" cy="8961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86AB"/>
                </a:solidFill>
              </a:rPr>
              <a:t>扩大词表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9472" y="17739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增大 num_merges，使高频字节序列都有对应 token。Qwen 词表达 150k+，中文效率大幅提升。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68880"/>
            <a:ext cx="3977640" cy="8961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86AB"/>
                </a:solidFill>
              </a:rPr>
              <a:t>多语言语料平衡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19472" y="2816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训练时提高非英文语料比例（upsampling），让模型充分学习各语言字节合并模式。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511296"/>
            <a:ext cx="3977640" cy="8961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84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86AB"/>
                </a:solidFill>
              </a:rPr>
              <a:t>专用子词扩展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19472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在 BBPE 基础上为目标语言追加高频字词（如汉字直接加词表），兼顾效率与覆盖。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BBPE 以轻微效率损失换取完整语言覆盖，是目前主流大模型的首选</a:t>
            </a:r>
            <a:endParaRPr lang="en-US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其他主流分词方案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WordPiece  ·  SentencePiece  ·  Unigram LM  ·  横向对比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第四部分  ·  其他主流分词方案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WordPiece（BERT 使用）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与 BPE 的关键区别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BPE 按频次贪心合并；WordPiece 按语言模型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似然（likelihood）最大化来选择合并对。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406908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03120"/>
            <a:ext cx="3849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score(a,b) = freq(ab) / (freq(a) * freq(b))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9689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分子越大（ab 常见），分母越小（a、b 单独罕见），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说明合并这对更能减少不确定性。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连续子词前缀：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2004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## 标记非词首子词（##ing, ##tion）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84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分词方向：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5844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从左到右，找词表中最长匹配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684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代表模型：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96849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BERT / DistilBERT / ELECTRA / XLM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3525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词表大小：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43525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典型 30k（BERT-base：30,522）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分词示例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389888"/>
            <a:ext cx="3977640" cy="2331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81328"/>
            <a:ext cx="37033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BERT WordPiece 示例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BertTokenizer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BertTokenizer.from_pretrained(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'bert-base-uncased')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tok.tokenize('unaffable')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['un', '##affect', '##able']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tok.tokenize('tokenization')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['token', '##ization']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221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## 前缀区分词首/非词首子词，有助于还原词边界。</a:t>
            </a:r>
            <a:endParaRPr lang="en-US" sz="115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第四部分  ·  其他主流分词方案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SentencePiece：语言无关的统一框架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核心设计思路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传统方案的隐含依赖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4069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BPE / WordPiece 需要先按空格/标点预切分文本（预分词步骤），这一步依赖语言规则：中文无空格，阿拉伯文规则各异，无法跨语言直接复用。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406908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7744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 "人工智能" → 无空格 → BPE 无法预分词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英文 "hello world" → 有空格 → BPE 可处理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7B45"/>
                </a:solidFill>
              </a:rPr>
              <a:t>SentencePiece 的解法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2D2D"/>
                </a:solidFill>
              </a:rPr>
              <a:t>把空格替换为特殊字符 ▁（U+2581），文本变成纯字符流。算法直接在原始 Unicode 上运行，不需要任何语言特定预处理。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406908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3192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"Hello world" → ▁Hello  ▁world → 子词序列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框架结构：算法可选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389888"/>
            <a:ext cx="19202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26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内嵌 BPE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6824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频次驱动合并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GPT / LLaMA 风格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389888"/>
            <a:ext cx="1920240" cy="6583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26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内嵌 Unigram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16824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概率化剪枝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T5 / mT5 风格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176272"/>
            <a:ext cx="3977640" cy="142646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67712"/>
            <a:ext cx="37033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sentencepiece as spm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spm.SentencePieceTrainer.train(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input='corpus.txt',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model_prefix='spm',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vocab_size=32000,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model_type='bpe')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6941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采用 SentencePiece 的代表模型：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00600" y="39867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LLaMA 1/2/3：SentencePiece + BPE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2062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T5 / mT5：SentencePiece + Unigram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4256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ALBERT：SentencePiece + Unigram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SentencePiece = 把空格变成字符 ▁  →  文本成为字符流  →  彻底消除语言预处理依赖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第四部分  ·  其他主流分词方案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Unigram Language Model 分词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与 BPE 的逆向思路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BPE 从小词表出发，不断合并（自下而上）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Unigram 从大词表出发，不断剪枝（自上而下）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30552"/>
            <a:ext cx="329184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初始化大词表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237744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收集语料中所有子串（字符/子词），初始词表可达 20万+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329184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79806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计算子词概率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30358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用 EM 算法估计每个子词的 unigram 概率 P(x)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47288"/>
            <a:ext cx="329184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" y="345643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剪枝低价值子词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" y="369417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移除对语料 log-likelihood 影响最小的子词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05656"/>
            <a:ext cx="329184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411480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迭代至目标词表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435254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重复步骤 2-3，直到词表缩减到目标大小（如 32k）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Unigram 的核心优势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417320"/>
            <a:ext cx="3977640" cy="8595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4904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概率化分词路径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同一词可有多种合法切分，模型输出每种切分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的概率，训练时可采样多种切分增强鲁棒性。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423160"/>
            <a:ext cx="3977640" cy="8595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496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更平滑的词表覆盖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19472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剪枝基于统计显著性，保留真正高频的子词，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词表质量优于 BPE 的贪心合并。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429000"/>
            <a:ext cx="3977640" cy="8595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02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分词歧义建模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19472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Unigram 可量化分词歧义程度，有助于处理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形态复杂语言（芬兰语、土耳其语等）。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Unigram 在 SentencePiece 框架下使用，代表模型：T5 / mT5 / ALBERT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第四部分  ·  其他主流分词方案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四种方案横向对比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1737360" cy="3657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对比维度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024128"/>
            <a:ext cx="137160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024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024128"/>
            <a:ext cx="1371600" cy="3657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024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BBPE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1024128"/>
            <a:ext cx="15544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24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WordPiece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024128"/>
            <a:ext cx="2011680" cy="36576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024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26464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42646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初始词表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1426464"/>
            <a:ext cx="13716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03704" y="142646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字符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1426464"/>
            <a:ext cx="13716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142646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256 字节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1426464"/>
            <a:ext cx="1554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1426464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字符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1426464"/>
            <a:ext cx="20116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142646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大词表剪枝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1920240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92024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合并策略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48840" y="19202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03704" y="1920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频次最大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1880" y="192024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19202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频次最大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192024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9784" y="192024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似然最大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192024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19202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EM + 剪枝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414016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41401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UNK 风险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48840" y="2414016"/>
            <a:ext cx="13716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03704" y="24140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极低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11880" y="2414016"/>
            <a:ext cx="1371600" cy="457200"/>
          </a:xfrm>
          <a:prstGeom prst="rect">
            <a:avLst/>
          </a:prstGeom>
          <a:solidFill>
            <a:srgbClr val="E8F8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66744" y="241401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7B45"/>
                </a:solidFill>
              </a:rPr>
              <a:t>零 UNK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74920" y="2414016"/>
            <a:ext cx="1554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9784" y="241401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极低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20840" y="2414016"/>
            <a:ext cx="20116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75704" y="241401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极低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2907792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290779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分词确定性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48840" y="290779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03704" y="290779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确定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11880" y="290779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66744" y="290779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确定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74920" y="290779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9784" y="290779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确定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720840" y="2907792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75704" y="290779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可概率化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3401568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40156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多语言友好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148840" y="3401568"/>
            <a:ext cx="13716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03704" y="34015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中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11880" y="3401568"/>
            <a:ext cx="13716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66744" y="340156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高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74920" y="3401568"/>
            <a:ext cx="15544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9784" y="340156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中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720840" y="3401568"/>
            <a:ext cx="201168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5704" y="340156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高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74320" y="3895344"/>
            <a:ext cx="173736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8953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代表模型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148840" y="38953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03704" y="389534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GPT-2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611880" y="389534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66744" y="3895344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LLaMA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074920" y="3895344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9784" y="3895344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BERT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720840" y="3895344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75704" y="389534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T5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274320" y="4645152"/>
            <a:ext cx="8549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4718304"/>
            <a:ext cx="8330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没有绝对最优：选择取决于目标语言、词表大小要求和下游任务</a:t>
            </a:r>
            <a:endParaRPr lang="en-US" sz="1100" dirty="0"/>
          </a:p>
        </p:txBody>
      </p:sp>
      <p:sp>
        <p:nvSpPr>
          <p:cNvPr id="77" name="TextBox 7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第四部分  ·  其他主流分词方案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主流 LLM 使用的 Tokenizer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41148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GPT-4 / GPT-3.5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分词器：BBPE (cl100k_base)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词表：100,256  |  英文优化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78992"/>
            <a:ext cx="4114800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LLaMA 2/3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463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分词器：SentencePiece + BPE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737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词表：32,000  |  多语言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21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21992"/>
            <a:ext cx="4114800" cy="32918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Qwen 2.5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606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分词器：BBPE (tiktoken)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880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词表：151,936  |  中英优化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21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221992"/>
            <a:ext cx="41148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BERT / RoBERTa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2606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分词器：WordPiece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2880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词表：30,522  |  英文为主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64992"/>
            <a:ext cx="41148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T5 / mT5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749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分词器：SentencePiece + Unigram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4023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词表：32,128  |  101 语言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364992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364992"/>
            <a:ext cx="4114800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Gemma 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3749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分词器：SentencePiece + BPE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4023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词表：256,000  |  多语言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626864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趋势：词表向 100k~256k 扩大 + BBPE 主导 + 多语言均衡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多语言挑战与优化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Token Fertility  ·  词表平衡策略  ·  中文分词特殊性  ·  实践建议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第五部分  ·  多语言挑战与优化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Token Fertility：不同语言的效率差异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Fertility = 一个自然语言词汇需要多少个 token 来表示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GPT-3.5 词表下各语言 Fertility 估算（越低越好）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282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English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72768" y="1746504"/>
            <a:ext cx="4754880" cy="23774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1746504"/>
            <a:ext cx="1630245" cy="2377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6165" y="17099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7B45"/>
                </a:solidFill>
              </a:rPr>
              <a:t>1.2x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7465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基准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225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German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72768" y="2340864"/>
            <a:ext cx="4754880" cy="23774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2340864"/>
            <a:ext cx="2037806" cy="2377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3726" y="2304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1.5x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340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形态变化多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9169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Chinese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72768" y="2935224"/>
            <a:ext cx="4754880" cy="23774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2935224"/>
            <a:ext cx="3396343" cy="2377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2263" y="28986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20A"/>
                </a:solidFill>
              </a:rPr>
              <a:t>2.5x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935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英文词表训练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5112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Arabic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72768" y="3529584"/>
            <a:ext cx="4754880" cy="23774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72768" y="3529584"/>
            <a:ext cx="4211465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7385" y="34930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3.1x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5295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形态复杂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105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Japanese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72768" y="4123944"/>
            <a:ext cx="4754880" cy="237744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72768" y="4123944"/>
            <a:ext cx="3803904" cy="2377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40873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2D8B"/>
                </a:solidFill>
              </a:rPr>
              <a:t>2.8x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1239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混合字符系统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709160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Fertility 越高 = 相同语义需要更多 token = 上下文利用率更低 = 推理成本更高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第五部分  ·  多语言挑战与优化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词表平衡策略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69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多语言语料采样（Upsampling）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训练 tokenizer 时按语言比例采样，提高低资源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语言在语料中的权重，使其字节/子词模式被充分合并。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176272"/>
            <a:ext cx="384048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mBERT: 104 语言，低资源语言 upsampling 50x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24128"/>
            <a:ext cx="4114800" cy="3474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069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扩大词表（Large Vocab）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144475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增加 BPE/BBPE 合并次数，将更多高频子词单元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纳入词表，降低各语言 fertility。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3168" y="2176272"/>
            <a:ext cx="384048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Qwen: 151,936  |  Gemma: 256,000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1576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15768"/>
            <a:ext cx="4114800" cy="34747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语言特定词表扩展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136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在预训练词表基础上追加目标语言高频词汇，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专为特定语言提升效率，无需重新训练整个词表。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" y="3867912"/>
            <a:ext cx="384048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LLaMA-2 Chinese: 追加 20k 汉字 token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715768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7614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分层词表（Hierarchical）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73168" y="31363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为不同脚本系统维护独立子词表，按语言路由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token，解决不同脚本体系间的冲突。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73168" y="3867912"/>
            <a:ext cx="384048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研究阶段，尚未广泛部署</a:t>
            </a:r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第五部分  ·  多语言挑战与优化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中文分词的特殊性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为什么中文是挑战？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82296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无空格边界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中文词语之间没有空格，BPE 无法依赖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空格确定词边界，切分歧义大。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0690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字符集巨大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常用汉字 3500+，全集 8万+，远超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英文 26 字母，初始字符词表极大。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069080" cy="82296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10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字节序列长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每个汉字 UTF-8 编码 3 字节，字节级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初始表示比英文长 3 倍。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实际 Token 效率对比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389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66666"/>
                </a:solidFill>
              </a:rPr>
              <a:t>同一句话（'人工智能改变世界'）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1755648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810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LLaMA-1 (英文词表)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0665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人|工|智|能|改|变|世|界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 tokens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670048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724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7B45"/>
                </a:solidFill>
              </a:rPr>
              <a:t>Qwen 2.5 (中文优化)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9809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人工智能|改变|世界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 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584448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639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ChatGLM (中文专用)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38953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人工智能|改变世界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 tokens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专用词表可将中文 fertility 从 8x 降至 2~3x，显著提升效率</a:t>
            </a:r>
            <a:endParaRPr lang="en-US" sz="110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第五部分  ·  多语言挑战与优化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工程实践建议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194560" cy="7863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英文单语言任务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107899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直接使用 GPT-4 / LLaMA 词表（cl100k 或 llama BPE），无需定制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75104"/>
            <a:ext cx="2194560" cy="7863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7510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中文 / 双语场景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9751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优先选择 Qwen / ChatGLM 词表，或在 LLaMA 基础上扩展 2~3万 汉字 token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71216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71216"/>
            <a:ext cx="2194560" cy="78638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1216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多语言场景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871216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使用 mBERT / mT5 / Gemma 词表；确认训练数据覆盖目标语言，评估 fertility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767328"/>
            <a:ext cx="2194560" cy="7863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67328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低资源语言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376732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用 SentencePiece 在目标语言数据上单独训练，再与基础词表合并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736592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评估 tokenizer 质量的核心指标：各目标语言的 Fertility + OOV 率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" y="0"/>
            <a:ext cx="34747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E86AB"/>
                </a:solidFill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Tokenizer 工程实践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9C4DD"/>
                </a:solidFill>
              </a:rPr>
              <a:t>HuggingFace Tokenizers  ·  词表大小决策  ·  课程总结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第六部分  ·  Tokenizer 工程实践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HuggingFace tokenizers 实战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两种使用方式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加载已有模型词表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6908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55648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AutoTokenizer.from_pretrained(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'Qwen/Qwen2.5-7B')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tok.encode('人工智能改变世界')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[104, 220, 14990, ...]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tok.decode(ids)  # 还原文本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644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常用属性查询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47872"/>
            <a:ext cx="40690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3931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tok.vocab_size      # 词表大小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tok.all_special_tokens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tok.convert_tokens_to_ids(['&lt;s&gt;'])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训练自定义 BPE 词表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977640" cy="3063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63040"/>
            <a:ext cx="37033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tokenizers import 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Tokenizer, models, trainers,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pre_tokenizers)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Tokenizer(models.BPE())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tok.pre_tokenizer = 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pre_tokenizers.ByteLevel())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trainers.BpeTrainer(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vocab_size=32000,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special_tokens=[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'&lt;unk&gt;','&lt;s&gt;','&lt;/s&gt;'])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tok.train(['corpus.txt'], trainer)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tok.save('my_tokenizer.json')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tokenizers 库（Rust 实现）比 Python 快 20~100x，适合大规模语料训练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第六部分  ·  Tokenizer 工程实践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词表大小的权衡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极端情况的代价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406908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词表过小（&lt; 8k）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高 fertility：简单词需多 token 表示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序列变长：上下文窗口利用率低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训练慢：模型要处理更长序列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52928"/>
            <a:ext cx="4069080" cy="3108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9864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词表过大（&gt; 300k）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Embedding 矩阵占用内存激增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稀疏词难以学到好的表示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039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• 推理时 softmax 分母变大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主流模型词表大小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3977640" cy="402336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371600"/>
            <a:ext cx="73152" cy="40233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371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BERT-base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3716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30,522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1371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早期，较小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828800"/>
            <a:ext cx="73152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8288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GPT-2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18288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50,257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18288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首代 GPT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286000"/>
            <a:ext cx="3977640" cy="402336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286000"/>
            <a:ext cx="73152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286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LLaMA-2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2286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32,000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22860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高效多语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743200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2743200"/>
            <a:ext cx="73152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7432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GPT-4 (cl100k)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27432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100,256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27432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当前主流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200400"/>
            <a:ext cx="3977640" cy="402336"/>
          </a:xfrm>
          <a:prstGeom prst="rect">
            <a:avLst/>
          </a:prstGeom>
          <a:solidFill>
            <a:srgbClr val="F8FB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200400"/>
            <a:ext cx="73152" cy="4023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2004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Qwen 2.5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37960" y="32004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151,936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32004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中英优化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657600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657600"/>
            <a:ext cx="73152" cy="40233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657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Gemma 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37960" y="36576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256,000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680960" y="3657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超大词表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经验值：英文单语言约 32k~50k；多语言/中文场景约 100k~256k</a:t>
            </a:r>
            <a:endParaRPr 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第六部分  ·  Tokenizer 工程实践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本课总结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技术演进路线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1508760" cy="65836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词级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分词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高 OOV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7452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335024"/>
            <a:ext cx="150876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53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字符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737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低 OOV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1188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1335024"/>
            <a:ext cx="1508760" cy="6583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53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BBPE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字节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737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零 UNK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492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1335024"/>
            <a:ext cx="1508760" cy="65836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353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WP/SP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统一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737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多框架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8660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</a:rPr>
              <a:t>-&gt;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1335024"/>
            <a:ext cx="15087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353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大词表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多语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7373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100k+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1762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核心要点回顾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87168"/>
            <a:ext cx="411480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487168"/>
            <a:ext cx="347472" cy="868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87168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672" y="254203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子词是最佳平衡点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28346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在词表大小、序列长度、覆盖率三者间取得最佳平衡，是现代 LLM 的基础。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487168"/>
            <a:ext cx="411480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487168"/>
            <a:ext cx="347472" cy="8686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487168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02352" y="254203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7B45"/>
                </a:solidFill>
              </a:rPr>
              <a:t>BBPE 是零 UNK 的保证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2352" y="283464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以 256 字节为初始词表，任意 Unicode 文本均可表示，已成主流大模型首选。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511296"/>
            <a:ext cx="411480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511296"/>
            <a:ext cx="347472" cy="8686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11296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4672" y="3566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20A"/>
                </a:solidFill>
              </a:rPr>
              <a:t>词表大小影响多语言公平性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" y="385876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扩大词表可降低 fertility，专用词表扩展是提升中文等非英语效率的常见手段。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511296"/>
            <a:ext cx="411480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511296"/>
            <a:ext cx="347472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511296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02352" y="35661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Tokenizer 选型影响模型效果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02352" y="3858768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选择 tokenizer 时需评估目标语言 fertility 和 OOV 率，不应直接沿用英文词表。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4718304"/>
            <a:ext cx="8193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从字符到字节，从频次到概率：Tokenizer 的演进始终在覆盖率、效率与公平性之间寻求平衡</a:t>
            </a:r>
            <a:endParaRPr lang="en-US" sz="1100" dirty="0"/>
          </a:p>
        </p:txBody>
      </p:sp>
      <p:sp>
        <p:nvSpPr>
          <p:cNvPr id="48" name="TextBox 4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